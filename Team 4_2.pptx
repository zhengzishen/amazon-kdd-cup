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71" r:id="rId2"/>
    <p:sldId id="273" r:id="rId3"/>
    <p:sldId id="260" r:id="rId4"/>
    <p:sldId id="258" r:id="rId5"/>
    <p:sldId id="257" r:id="rId6"/>
    <p:sldId id="259" r:id="rId7"/>
    <p:sldId id="261" r:id="rId8"/>
    <p:sldId id="268" r:id="rId9"/>
    <p:sldId id="264" r:id="rId10"/>
    <p:sldId id="270" r:id="rId11"/>
    <p:sldId id="275" r:id="rId12"/>
    <p:sldId id="263" r:id="rId13"/>
    <p:sldId id="267" r:id="rId14"/>
    <p:sldId id="269" r:id="rId15"/>
    <p:sldId id="509" r:id="rId16"/>
    <p:sldId id="512" r:id="rId17"/>
    <p:sldId id="513" r:id="rId18"/>
    <p:sldId id="514" r:id="rId19"/>
    <p:sldId id="274"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91" autoAdjust="0"/>
    <p:restoredTop sz="94660"/>
  </p:normalViewPr>
  <p:slideViewPr>
    <p:cSldViewPr snapToGrid="0">
      <p:cViewPr varScale="1">
        <p:scale>
          <a:sx n="63" d="100"/>
          <a:sy n="63" d="100"/>
        </p:scale>
        <p:origin x="5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42649-73E2-43DD-86F2-318EBC8859CA}" type="datetimeFigureOut">
              <a:rPr lang="zh-CN" altLang="en-US" smtClean="0"/>
              <a:t>2025-04-30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AE0A96-8FE6-4832-92FB-4D5156BF7A22}" type="slidenum">
              <a:rPr lang="zh-CN" altLang="en-US" smtClean="0"/>
              <a:t>‹#›</a:t>
            </a:fld>
            <a:endParaRPr lang="zh-CN" altLang="en-US"/>
          </a:p>
        </p:txBody>
      </p:sp>
    </p:spTree>
    <p:extLst>
      <p:ext uri="{BB962C8B-B14F-4D97-AF65-F5344CB8AC3E}">
        <p14:creationId xmlns:p14="http://schemas.microsoft.com/office/powerpoint/2010/main" val="3379208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2AE0A96-8FE6-4832-92FB-4D5156BF7A22}" type="slidenum">
              <a:rPr lang="zh-CN" altLang="en-US" smtClean="0"/>
              <a:t>1</a:t>
            </a:fld>
            <a:endParaRPr lang="zh-CN" altLang="en-US"/>
          </a:p>
        </p:txBody>
      </p:sp>
    </p:spTree>
    <p:extLst>
      <p:ext uri="{BB962C8B-B14F-4D97-AF65-F5344CB8AC3E}">
        <p14:creationId xmlns:p14="http://schemas.microsoft.com/office/powerpoint/2010/main" val="31860934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Титульны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Подзаголовок 2"/>
          <p:cNvSpPr>
            <a:spLocks noGrp="1"/>
          </p:cNvSpPr>
          <p:nvPr>
            <p:ph type="subTitle" idx="1" hasCustomPrompt="1"/>
          </p:nvPr>
        </p:nvSpPr>
        <p:spPr>
          <a:xfrm>
            <a:off x="1828800" y="3717032"/>
            <a:ext cx="8534400" cy="1921768"/>
          </a:xfrm>
        </p:spPr>
        <p:txBody>
          <a:bodyPr>
            <a:normAutofit/>
          </a:bodyPr>
          <a:lstStyle>
            <a:lvl1pPr marL="0" indent="0" algn="ctr">
              <a:buNone/>
              <a:defRPr sz="2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Text</a:t>
            </a:r>
            <a:endParaRPr lang="ru-RU" dirty="0"/>
          </a:p>
        </p:txBody>
      </p:sp>
      <p:sp>
        <p:nvSpPr>
          <p:cNvPr id="7" name="Заголовок 6"/>
          <p:cNvSpPr>
            <a:spLocks noGrp="1"/>
          </p:cNvSpPr>
          <p:nvPr>
            <p:ph type="title" hasCustomPrompt="1"/>
          </p:nvPr>
        </p:nvSpPr>
        <p:spPr>
          <a:xfrm>
            <a:off x="609600" y="2348880"/>
            <a:ext cx="10972800" cy="1143000"/>
          </a:xfrm>
        </p:spPr>
        <p:txBody>
          <a:bodyPr/>
          <a:lstStyle>
            <a:lvl1pPr>
              <a:defRPr b="1" cap="all" baseline="0">
                <a:solidFill>
                  <a:schemeClr val="bg1"/>
                </a:solidFill>
              </a:defRPr>
            </a:lvl1pPr>
          </a:lstStyle>
          <a:p>
            <a:r>
              <a:rPr lang="en-US" dirty="0"/>
              <a:t>Title</a:t>
            </a:r>
            <a:endParaRPr lang="ru-RU" dirty="0"/>
          </a:p>
        </p:txBody>
      </p:sp>
    </p:spTree>
    <p:extLst>
      <p:ext uri="{BB962C8B-B14F-4D97-AF65-F5344CB8AC3E}">
        <p14:creationId xmlns:p14="http://schemas.microsoft.com/office/powerpoint/2010/main" val="1139306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239349" y="404664"/>
            <a:ext cx="6336704"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p>
        </p:txBody>
      </p:sp>
      <p:sp>
        <p:nvSpPr>
          <p:cNvPr id="2" name="Заголовок 1"/>
          <p:cNvSpPr>
            <a:spLocks noGrp="1"/>
          </p:cNvSpPr>
          <p:nvPr>
            <p:ph type="title" hasCustomPrompt="1"/>
          </p:nvPr>
        </p:nvSpPr>
        <p:spPr>
          <a:xfrm>
            <a:off x="239350" y="404664"/>
            <a:ext cx="6240693"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239349" y="1268760"/>
            <a:ext cx="11617291" cy="532656"/>
          </a:xfrm>
        </p:spPr>
        <p:txBody>
          <a:bodyPr/>
          <a:lstStyle>
            <a:lvl1pPr marL="0" indent="0" algn="ctr">
              <a:buNone/>
              <a:defRPr>
                <a:solidFill>
                  <a:schemeClr val="accent2">
                    <a:lumMod val="75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Tree>
    <p:extLst>
      <p:ext uri="{BB962C8B-B14F-4D97-AF65-F5344CB8AC3E}">
        <p14:creationId xmlns:p14="http://schemas.microsoft.com/office/powerpoint/2010/main" val="2665985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Рабочий слайд с фотографией">
    <p:spTree>
      <p:nvGrpSpPr>
        <p:cNvPr id="1" name=""/>
        <p:cNvGrpSpPr/>
        <p:nvPr/>
      </p:nvGrpSpPr>
      <p:grpSpPr>
        <a:xfrm>
          <a:off x="0" y="0"/>
          <a:ext cx="0" cy="0"/>
          <a:chOff x="0" y="0"/>
          <a:chExt cx="0" cy="0"/>
        </a:xfrm>
      </p:grpSpPr>
      <p:sp>
        <p:nvSpPr>
          <p:cNvPr id="7" name="Прямоугольник 6"/>
          <p:cNvSpPr/>
          <p:nvPr userDrawn="1"/>
        </p:nvSpPr>
        <p:spPr>
          <a:xfrm>
            <a:off x="239349" y="404664"/>
            <a:ext cx="6336704"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p>
        </p:txBody>
      </p:sp>
      <p:sp>
        <p:nvSpPr>
          <p:cNvPr id="2" name="Заголовок 1"/>
          <p:cNvSpPr>
            <a:spLocks noGrp="1"/>
          </p:cNvSpPr>
          <p:nvPr>
            <p:ph type="title" hasCustomPrompt="1"/>
          </p:nvPr>
        </p:nvSpPr>
        <p:spPr>
          <a:xfrm>
            <a:off x="239350" y="404664"/>
            <a:ext cx="6240693"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4655840" y="1268760"/>
            <a:ext cx="7200800" cy="964704"/>
          </a:xfrm>
        </p:spPr>
        <p:txBody>
          <a:bodyPr/>
          <a:lstStyle>
            <a:lvl1pPr marL="0" indent="0" algn="l">
              <a:buNone/>
              <a:defRPr b="1">
                <a:solidFill>
                  <a:schemeClr val="bg1">
                    <a:lumMod val="50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
        <p:nvSpPr>
          <p:cNvPr id="5" name="Текст 4"/>
          <p:cNvSpPr>
            <a:spLocks noGrp="1"/>
          </p:cNvSpPr>
          <p:nvPr>
            <p:ph type="body" sz="quarter" idx="10"/>
          </p:nvPr>
        </p:nvSpPr>
        <p:spPr>
          <a:xfrm>
            <a:off x="4656667" y="2305397"/>
            <a:ext cx="7200900" cy="3816350"/>
          </a:xfrm>
        </p:spPr>
        <p:txBody>
          <a:bodyPr>
            <a:normAutofit/>
          </a:bodyPr>
          <a:lstStyle>
            <a:lvl1pPr marL="0" indent="0">
              <a:buNone/>
              <a:defRPr sz="2800">
                <a:solidFill>
                  <a:schemeClr val="bg1">
                    <a:lumMod val="50000"/>
                  </a:schemeClr>
                </a:solidFill>
              </a:defRPr>
            </a:lvl1pPr>
            <a:lvl2pPr marL="457200" indent="0">
              <a:buNone/>
              <a:defRPr sz="2400">
                <a:solidFill>
                  <a:schemeClr val="bg1">
                    <a:lumMod val="50000"/>
                  </a:schemeClr>
                </a:solidFill>
              </a:defRPr>
            </a:lvl2pPr>
            <a:lvl3pPr marL="914400" indent="0">
              <a:buNone/>
              <a:defRPr sz="2000">
                <a:solidFill>
                  <a:schemeClr val="bg1">
                    <a:lumMod val="50000"/>
                  </a:schemeClr>
                </a:solidFill>
              </a:defRPr>
            </a:lvl3pPr>
            <a:lvl4pPr marL="1371600" indent="0">
              <a:buNone/>
              <a:defRPr sz="1800">
                <a:solidFill>
                  <a:schemeClr val="bg1">
                    <a:lumMod val="50000"/>
                  </a:schemeClr>
                </a:solidFill>
              </a:defRPr>
            </a:lvl4pPr>
            <a:lvl5pPr marL="1828800" indent="0">
              <a:buNone/>
              <a:defRPr sz="1800">
                <a:solidFill>
                  <a:schemeClr val="bg1">
                    <a:lumMod val="50000"/>
                  </a:schemeClr>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ru-RU" dirty="0"/>
          </a:p>
        </p:txBody>
      </p:sp>
      <p:sp>
        <p:nvSpPr>
          <p:cNvPr id="8" name="Рисунок 7"/>
          <p:cNvSpPr>
            <a:spLocks noGrp="1"/>
          </p:cNvSpPr>
          <p:nvPr>
            <p:ph type="pic" sz="quarter" idx="11" hasCustomPrompt="1"/>
          </p:nvPr>
        </p:nvSpPr>
        <p:spPr>
          <a:xfrm>
            <a:off x="246493" y="1268760"/>
            <a:ext cx="4224867" cy="3168650"/>
          </a:xfrm>
          <a:solidFill>
            <a:schemeClr val="bg1">
              <a:lumMod val="65000"/>
            </a:schemeClr>
          </a:solidFill>
        </p:spPr>
        <p:txBody>
          <a:bodyPr anchor="ctr"/>
          <a:lstStyle>
            <a:lvl1pPr marL="0" indent="0" algn="ctr">
              <a:buNone/>
              <a:defRPr>
                <a:solidFill>
                  <a:schemeClr val="bg1"/>
                </a:solidFill>
              </a:defRPr>
            </a:lvl1pPr>
          </a:lstStyle>
          <a:p>
            <a:r>
              <a:rPr lang="en-US" dirty="0" err="1"/>
              <a:t>foto</a:t>
            </a:r>
            <a:endParaRPr lang="ru-RU" dirty="0"/>
          </a:p>
        </p:txBody>
      </p:sp>
    </p:spTree>
    <p:extLst>
      <p:ext uri="{BB962C8B-B14F-4D97-AF65-F5344CB8AC3E}">
        <p14:creationId xmlns:p14="http://schemas.microsoft.com/office/powerpoint/2010/main" val="4051122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239349" y="404664"/>
            <a:ext cx="6336704"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p>
        </p:txBody>
      </p:sp>
      <p:sp>
        <p:nvSpPr>
          <p:cNvPr id="2" name="Заголовок 1"/>
          <p:cNvSpPr>
            <a:spLocks noGrp="1"/>
          </p:cNvSpPr>
          <p:nvPr>
            <p:ph type="title" hasCustomPrompt="1"/>
          </p:nvPr>
        </p:nvSpPr>
        <p:spPr>
          <a:xfrm>
            <a:off x="239350" y="404664"/>
            <a:ext cx="6240693" cy="576064"/>
          </a:xfrm>
        </p:spPr>
        <p:txBody>
          <a:bodyPr>
            <a:normAutofit/>
          </a:bodyPr>
          <a:lstStyle>
            <a:lvl1pPr algn="l">
              <a:defRPr sz="3600">
                <a:solidFill>
                  <a:schemeClr val="bg1"/>
                </a:solidFill>
              </a:defRPr>
            </a:lvl1pPr>
          </a:lstStyle>
          <a:p>
            <a:r>
              <a:rPr lang="en-US" dirty="0"/>
              <a:t>Text</a:t>
            </a:r>
            <a:endParaRPr lang="ru-RU" dirty="0"/>
          </a:p>
        </p:txBody>
      </p:sp>
      <p:sp>
        <p:nvSpPr>
          <p:cNvPr id="3" name="Объект 2"/>
          <p:cNvSpPr>
            <a:spLocks noGrp="1"/>
          </p:cNvSpPr>
          <p:nvPr>
            <p:ph idx="1" hasCustomPrompt="1"/>
          </p:nvPr>
        </p:nvSpPr>
        <p:spPr>
          <a:xfrm>
            <a:off x="239349" y="1196752"/>
            <a:ext cx="11617291" cy="532656"/>
          </a:xfrm>
        </p:spPr>
        <p:txBody>
          <a:bodyPr>
            <a:noAutofit/>
          </a:bodyPr>
          <a:lstStyle>
            <a:lvl1pPr marL="0" indent="0" algn="l">
              <a:buNone/>
              <a:defRPr sz="2400" b="1">
                <a:solidFill>
                  <a:schemeClr val="bg1">
                    <a:lumMod val="50000"/>
                  </a:schemeClr>
                </a:solidFill>
              </a:defRPr>
            </a:lvl1pPr>
            <a:lvl2pPr algn="ctr">
              <a:defRPr/>
            </a:lvl2pPr>
            <a:lvl3pPr algn="ctr">
              <a:defRPr/>
            </a:lvl3pPr>
            <a:lvl4pPr algn="ctr">
              <a:defRPr/>
            </a:lvl4pPr>
            <a:lvl5pPr algn="ctr">
              <a:defRPr/>
            </a:lvl5pPr>
          </a:lstStyle>
          <a:p>
            <a:pPr lvl="0"/>
            <a:r>
              <a:rPr lang="en-US" dirty="0"/>
              <a:t>Text</a:t>
            </a:r>
            <a:endParaRPr lang="ru-RU" dirty="0"/>
          </a:p>
        </p:txBody>
      </p:sp>
      <p:sp>
        <p:nvSpPr>
          <p:cNvPr id="5" name="Текст 4"/>
          <p:cNvSpPr>
            <a:spLocks noGrp="1"/>
          </p:cNvSpPr>
          <p:nvPr>
            <p:ph type="body" sz="quarter" idx="10"/>
          </p:nvPr>
        </p:nvSpPr>
        <p:spPr>
          <a:xfrm>
            <a:off x="239185" y="1801589"/>
            <a:ext cx="11618383" cy="4248150"/>
          </a:xfrm>
        </p:spPr>
        <p:txBody>
          <a:bodyPr>
            <a:normAutofit/>
          </a:bodyPr>
          <a:lstStyle>
            <a:lvl1pPr marL="0" indent="0">
              <a:buNone/>
              <a:defRPr sz="2400">
                <a:solidFill>
                  <a:schemeClr val="bg1">
                    <a:lumMod val="50000"/>
                  </a:schemeClr>
                </a:solidFill>
              </a:defRPr>
            </a:lvl1pPr>
            <a:lvl2pPr marL="457200" indent="0">
              <a:buNone/>
              <a:defRPr sz="2000">
                <a:solidFill>
                  <a:schemeClr val="bg1">
                    <a:lumMod val="50000"/>
                  </a:schemeClr>
                </a:solidFill>
              </a:defRPr>
            </a:lvl2pPr>
            <a:lvl3pPr marL="914400" indent="0">
              <a:buNone/>
              <a:defRPr sz="1800">
                <a:solidFill>
                  <a:schemeClr val="bg1">
                    <a:lumMod val="50000"/>
                  </a:schemeClr>
                </a:solidFill>
              </a:defRPr>
            </a:lvl3pPr>
            <a:lvl4pPr marL="1371600" indent="0">
              <a:buNone/>
              <a:defRPr sz="1600">
                <a:solidFill>
                  <a:schemeClr val="bg1">
                    <a:lumMod val="50000"/>
                  </a:schemeClr>
                </a:solidFill>
              </a:defRPr>
            </a:lvl4pPr>
            <a:lvl5pPr marL="1828800" indent="0">
              <a:buNone/>
              <a:defRPr sz="1600">
                <a:solidFill>
                  <a:schemeClr val="bg1">
                    <a:lumMod val="50000"/>
                  </a:schemeClr>
                </a:solidFill>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ru-RU" dirty="0"/>
          </a:p>
        </p:txBody>
      </p:sp>
    </p:spTree>
    <p:extLst>
      <p:ext uri="{BB962C8B-B14F-4D97-AF65-F5344CB8AC3E}">
        <p14:creationId xmlns:p14="http://schemas.microsoft.com/office/powerpoint/2010/main" val="1940696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Рабочий слайд">
    <p:spTree>
      <p:nvGrpSpPr>
        <p:cNvPr id="1" name=""/>
        <p:cNvGrpSpPr/>
        <p:nvPr/>
      </p:nvGrpSpPr>
      <p:grpSpPr>
        <a:xfrm>
          <a:off x="0" y="0"/>
          <a:ext cx="0" cy="0"/>
          <a:chOff x="0" y="0"/>
          <a:chExt cx="0" cy="0"/>
        </a:xfrm>
      </p:grpSpPr>
      <p:sp>
        <p:nvSpPr>
          <p:cNvPr id="7" name="Прямоугольник 6"/>
          <p:cNvSpPr/>
          <p:nvPr userDrawn="1"/>
        </p:nvSpPr>
        <p:spPr>
          <a:xfrm>
            <a:off x="239349" y="404664"/>
            <a:ext cx="6336704" cy="57606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800"/>
          </a:p>
        </p:txBody>
      </p:sp>
      <p:sp>
        <p:nvSpPr>
          <p:cNvPr id="2" name="Заголовок 1"/>
          <p:cNvSpPr>
            <a:spLocks noGrp="1"/>
          </p:cNvSpPr>
          <p:nvPr>
            <p:ph type="title" hasCustomPrompt="1"/>
          </p:nvPr>
        </p:nvSpPr>
        <p:spPr>
          <a:xfrm>
            <a:off x="239350" y="404664"/>
            <a:ext cx="6240693" cy="576064"/>
          </a:xfrm>
        </p:spPr>
        <p:txBody>
          <a:bodyPr>
            <a:normAutofit/>
          </a:bodyPr>
          <a:lstStyle>
            <a:lvl1pPr algn="l">
              <a:defRPr sz="3600">
                <a:solidFill>
                  <a:schemeClr val="bg1"/>
                </a:solidFill>
              </a:defRPr>
            </a:lvl1pPr>
          </a:lstStyle>
          <a:p>
            <a:r>
              <a:rPr lang="en-US" dirty="0"/>
              <a:t>Text</a:t>
            </a:r>
            <a:endParaRPr lang="ru-RU" dirty="0"/>
          </a:p>
        </p:txBody>
      </p:sp>
      <p:sp>
        <p:nvSpPr>
          <p:cNvPr id="6" name="Рисунок 5"/>
          <p:cNvSpPr>
            <a:spLocks noGrp="1"/>
          </p:cNvSpPr>
          <p:nvPr>
            <p:ph type="pic" sz="quarter" idx="10" hasCustomPrompt="1"/>
          </p:nvPr>
        </p:nvSpPr>
        <p:spPr>
          <a:xfrm>
            <a:off x="239185" y="1125539"/>
            <a:ext cx="11713633" cy="5399087"/>
          </a:xfrm>
          <a:solidFill>
            <a:schemeClr val="bg1">
              <a:lumMod val="65000"/>
            </a:schemeClr>
          </a:solidFill>
        </p:spPr>
        <p:txBody>
          <a:bodyPr anchor="ctr"/>
          <a:lstStyle>
            <a:lvl1pPr marL="0" indent="0" algn="ctr">
              <a:buNone/>
              <a:defRPr>
                <a:solidFill>
                  <a:schemeClr val="bg1"/>
                </a:solidFill>
              </a:defRPr>
            </a:lvl1pPr>
          </a:lstStyle>
          <a:p>
            <a:r>
              <a:rPr lang="en-US" dirty="0" err="1"/>
              <a:t>foto</a:t>
            </a:r>
            <a:endParaRPr lang="ru-RU" dirty="0"/>
          </a:p>
        </p:txBody>
      </p:sp>
    </p:spTree>
    <p:extLst>
      <p:ext uri="{BB962C8B-B14F-4D97-AF65-F5344CB8AC3E}">
        <p14:creationId xmlns:p14="http://schemas.microsoft.com/office/powerpoint/2010/main" val="2681937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Рабочий слайд">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p:cNvSpPr txBox="1"/>
          <p:nvPr userDrawn="1"/>
        </p:nvSpPr>
        <p:spPr>
          <a:xfrm>
            <a:off x="6480043" y="5517233"/>
            <a:ext cx="5088565" cy="646331"/>
          </a:xfrm>
          <a:prstGeom prst="rect">
            <a:avLst/>
          </a:prstGeom>
          <a:noFill/>
        </p:spPr>
        <p:txBody>
          <a:bodyPr wrap="square" rtlCol="0">
            <a:spAutoFit/>
          </a:bodyPr>
          <a:lstStyle/>
          <a:p>
            <a:pPr algn="r"/>
            <a:r>
              <a:rPr lang="en-US" sz="1800" dirty="0">
                <a:solidFill>
                  <a:schemeClr val="bg1"/>
                </a:solidFill>
              </a:rPr>
              <a:t>St Petersburg University</a:t>
            </a:r>
          </a:p>
          <a:p>
            <a:pPr algn="r"/>
            <a:r>
              <a:rPr lang="en-US" sz="1800" b="1" dirty="0">
                <a:solidFill>
                  <a:schemeClr val="bg1"/>
                </a:solidFill>
              </a:rPr>
              <a:t>spbu.ru</a:t>
            </a:r>
            <a:endParaRPr lang="ru-RU" sz="1800" b="1" dirty="0">
              <a:solidFill>
                <a:schemeClr val="bg1"/>
              </a:solidFill>
            </a:endParaRPr>
          </a:p>
        </p:txBody>
      </p:sp>
    </p:spTree>
    <p:extLst>
      <p:ext uri="{BB962C8B-B14F-4D97-AF65-F5344CB8AC3E}">
        <p14:creationId xmlns:p14="http://schemas.microsoft.com/office/powerpoint/2010/main" val="2204463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F67DE-8A21-2E6A-A070-62D57D5B3A20}"/>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E161EF7-BEDE-813F-3A7F-CA0D1B639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A0AFD83-6511-4D83-A2CF-15DA510EA244}"/>
              </a:ext>
            </a:extLst>
          </p:cNvPr>
          <p:cNvSpPr>
            <a:spLocks noGrp="1"/>
          </p:cNvSpPr>
          <p:nvPr>
            <p:ph type="dt" sz="half" idx="10"/>
          </p:nvPr>
        </p:nvSpPr>
        <p:spPr/>
        <p:txBody>
          <a:bodyPr/>
          <a:lstStyle/>
          <a:p>
            <a:fld id="{91AE1ECF-537C-4FB6-971F-C166D598DE89}" type="datetimeFigureOut">
              <a:rPr lang="zh-CN" altLang="en-US" smtClean="0"/>
              <a:t>2025-04-30</a:t>
            </a:fld>
            <a:endParaRPr lang="zh-CN" altLang="en-US"/>
          </a:p>
        </p:txBody>
      </p:sp>
      <p:sp>
        <p:nvSpPr>
          <p:cNvPr id="5" name="页脚占位符 4">
            <a:extLst>
              <a:ext uri="{FF2B5EF4-FFF2-40B4-BE49-F238E27FC236}">
                <a16:creationId xmlns:a16="http://schemas.microsoft.com/office/drawing/2014/main" id="{4033DCA4-A65C-A66D-1DD4-F0F113B7BB6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978DF9D-F70F-F68D-FA07-02489627F438}"/>
              </a:ext>
            </a:extLst>
          </p:cNvPr>
          <p:cNvSpPr>
            <a:spLocks noGrp="1"/>
          </p:cNvSpPr>
          <p:nvPr>
            <p:ph type="sldNum" sz="quarter" idx="12"/>
          </p:nvPr>
        </p:nvSpPr>
        <p:spPr/>
        <p:txBody>
          <a:bodyPr/>
          <a:lstStyle/>
          <a:p>
            <a:fld id="{A8EB41E7-283C-4259-ACD7-980891F158D4}" type="slidenum">
              <a:rPr lang="zh-CN" altLang="en-US" smtClean="0"/>
              <a:t>‹#›</a:t>
            </a:fld>
            <a:endParaRPr lang="zh-CN" altLang="en-US"/>
          </a:p>
        </p:txBody>
      </p:sp>
    </p:spTree>
    <p:extLst>
      <p:ext uri="{BB962C8B-B14F-4D97-AF65-F5344CB8AC3E}">
        <p14:creationId xmlns:p14="http://schemas.microsoft.com/office/powerpoint/2010/main" val="4116095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比较">
    <p:spTree>
      <p:nvGrpSpPr>
        <p:cNvPr id="1" name=""/>
        <p:cNvGrpSpPr/>
        <p:nvPr/>
      </p:nvGrpSpPr>
      <p:grpSpPr>
        <a:xfrm>
          <a:off x="0" y="0"/>
          <a:ext cx="0" cy="0"/>
          <a:chOff x="0" y="0"/>
          <a:chExt cx="0" cy="0"/>
        </a:xfrm>
      </p:grpSpPr>
      <p:sp>
        <p:nvSpPr>
          <p:cNvPr id="3" name="矩形 2"/>
          <p:cNvSpPr/>
          <p:nvPr userDrawn="1"/>
        </p:nvSpPr>
        <p:spPr>
          <a:xfrm>
            <a:off x="0" y="0"/>
            <a:ext cx="12192000" cy="6858000"/>
          </a:xfrm>
          <a:prstGeom prst="rect">
            <a:avLst/>
          </a:prstGeom>
          <a:solidFill>
            <a:srgbClr val="BDDC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a:stretch>
            <a:fillRect/>
          </a:stretch>
        </p:blipFill>
        <p:spPr>
          <a:xfrm>
            <a:off x="0" y="0"/>
            <a:ext cx="12192000" cy="6857999"/>
          </a:xfrm>
          <a:prstGeom prst="rect">
            <a:avLst/>
          </a:prstGeom>
        </p:spPr>
      </p:pic>
      <p:sp>
        <p:nvSpPr>
          <p:cNvPr id="5" name="矩形: 圆角 4"/>
          <p:cNvSpPr/>
          <p:nvPr userDrawn="1"/>
        </p:nvSpPr>
        <p:spPr>
          <a:xfrm>
            <a:off x="163286" y="179614"/>
            <a:ext cx="11846379" cy="6474279"/>
          </a:xfrm>
          <a:prstGeom prst="roundRect">
            <a:avLst>
              <a:gd name="adj" fmla="val 4292"/>
            </a:avLst>
          </a:prstGeom>
          <a:solidFill>
            <a:schemeClr val="bg1"/>
          </a:solidFill>
          <a:ln>
            <a:noFill/>
          </a:ln>
          <a:effectLst>
            <a:outerShdw blurRad="63500" sx="102000" sy="102000" algn="ctr"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spTree>
    <p:extLst>
      <p:ext uri="{BB962C8B-B14F-4D97-AF65-F5344CB8AC3E}">
        <p14:creationId xmlns:p14="http://schemas.microsoft.com/office/powerpoint/2010/main" val="1307229153"/>
      </p:ext>
    </p:extLst>
  </p:cSld>
  <p:clrMapOvr>
    <a:masterClrMapping/>
  </p:clrMapOvr>
  <p:transition spd="slow" advClick="0" advTm="0">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7983B2-6E29-409A-92B0-EBD7932440C6}" type="datetimeFigureOut">
              <a:rPr lang="ru-RU" smtClean="0"/>
              <a:t>30.04.2025</a:t>
            </a:fld>
            <a:endParaRPr lang="ru-RU"/>
          </a:p>
        </p:txBody>
      </p:sp>
      <p:sp>
        <p:nvSpPr>
          <p:cNvPr id="5" name="Нижний колонтитул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743867-4E32-4E2D-8739-58246E7E28D2}" type="slidenum">
              <a:rPr lang="ru-RU" smtClean="0"/>
              <a:t>‹#›</a:t>
            </a:fld>
            <a:endParaRPr lang="ru-RU"/>
          </a:p>
        </p:txBody>
      </p:sp>
    </p:spTree>
    <p:extLst>
      <p:ext uri="{BB962C8B-B14F-4D97-AF65-F5344CB8AC3E}">
        <p14:creationId xmlns:p14="http://schemas.microsoft.com/office/powerpoint/2010/main" val="38084199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2D0B8-6690-30B3-FA48-BACE3E815FDA}"/>
            </a:ext>
          </a:extLst>
        </p:cNvPr>
        <p:cNvGrpSpPr/>
        <p:nvPr/>
      </p:nvGrpSpPr>
      <p:grpSpPr>
        <a:xfrm>
          <a:off x="0" y="0"/>
          <a:ext cx="0" cy="0"/>
          <a:chOff x="0" y="0"/>
          <a:chExt cx="0" cy="0"/>
        </a:xfrm>
      </p:grpSpPr>
      <p:sp>
        <p:nvSpPr>
          <p:cNvPr id="3" name="副标题 2">
            <a:extLst>
              <a:ext uri="{FF2B5EF4-FFF2-40B4-BE49-F238E27FC236}">
                <a16:creationId xmlns:a16="http://schemas.microsoft.com/office/drawing/2014/main" id="{77AE838F-7963-DD63-500B-23BFB097AA91}"/>
              </a:ext>
            </a:extLst>
          </p:cNvPr>
          <p:cNvSpPr>
            <a:spLocks noGrp="1"/>
          </p:cNvSpPr>
          <p:nvPr>
            <p:ph type="subTitle" idx="1"/>
          </p:nvPr>
        </p:nvSpPr>
        <p:spPr>
          <a:xfrm>
            <a:off x="1376680" y="2584629"/>
            <a:ext cx="9438640" cy="1921768"/>
          </a:xfrm>
        </p:spPr>
        <p:txBody>
          <a:bodyPr>
            <a:normAutofit/>
          </a:bodyPr>
          <a:lstStyle/>
          <a:p>
            <a:pPr algn="l"/>
            <a:r>
              <a:rPr lang="en-US" altLang="zh-CN" sz="3200" b="0" i="0" dirty="0">
                <a:effectLst/>
                <a:latin typeface="inter-ui"/>
              </a:rPr>
              <a:t>Goal: to build a useful assistant, answering questions  in the domain of online shopping</a:t>
            </a:r>
            <a:endParaRPr lang="zh-CN" altLang="en-US" sz="3200" dirty="0"/>
          </a:p>
        </p:txBody>
      </p:sp>
      <p:sp>
        <p:nvSpPr>
          <p:cNvPr id="2" name="标题 1">
            <a:extLst>
              <a:ext uri="{FF2B5EF4-FFF2-40B4-BE49-F238E27FC236}">
                <a16:creationId xmlns:a16="http://schemas.microsoft.com/office/drawing/2014/main" id="{1CACD1C7-FA5C-67CC-C9D9-2C195952AE42}"/>
              </a:ext>
            </a:extLst>
          </p:cNvPr>
          <p:cNvSpPr>
            <a:spLocks noGrp="1"/>
          </p:cNvSpPr>
          <p:nvPr>
            <p:ph type="title"/>
          </p:nvPr>
        </p:nvSpPr>
        <p:spPr>
          <a:xfrm>
            <a:off x="680720" y="1441629"/>
            <a:ext cx="10972800" cy="1143000"/>
          </a:xfrm>
        </p:spPr>
        <p:txBody>
          <a:bodyPr/>
          <a:lstStyle/>
          <a:p>
            <a:r>
              <a:rPr lang="en-US" altLang="zh-CN" dirty="0"/>
              <a:t>Online Shopping Challenge for LLMs</a:t>
            </a:r>
            <a:endParaRPr lang="zh-CN" altLang="en-US" dirty="0"/>
          </a:p>
        </p:txBody>
      </p:sp>
      <p:pic>
        <p:nvPicPr>
          <p:cNvPr id="6" name="图片 5">
            <a:extLst>
              <a:ext uri="{FF2B5EF4-FFF2-40B4-BE49-F238E27FC236}">
                <a16:creationId xmlns:a16="http://schemas.microsoft.com/office/drawing/2014/main" id="{C440A637-4412-4672-06F1-A590B91C7965}"/>
              </a:ext>
            </a:extLst>
          </p:cNvPr>
          <p:cNvPicPr>
            <a:picLocks noChangeAspect="1"/>
          </p:cNvPicPr>
          <p:nvPr/>
        </p:nvPicPr>
        <p:blipFill>
          <a:blip r:embed="rId3"/>
          <a:stretch>
            <a:fillRect/>
          </a:stretch>
        </p:blipFill>
        <p:spPr>
          <a:xfrm>
            <a:off x="2372360" y="3829424"/>
            <a:ext cx="7447280" cy="2693802"/>
          </a:xfrm>
          <a:prstGeom prst="rect">
            <a:avLst/>
          </a:prstGeom>
        </p:spPr>
      </p:pic>
    </p:spTree>
    <p:extLst>
      <p:ext uri="{BB962C8B-B14F-4D97-AF65-F5344CB8AC3E}">
        <p14:creationId xmlns:p14="http://schemas.microsoft.com/office/powerpoint/2010/main" val="2215709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C1692-7794-DA50-670B-64644B49E9F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DDC3E9-A41A-8A72-27C8-4A7EBA89A3FD}"/>
              </a:ext>
            </a:extLst>
          </p:cNvPr>
          <p:cNvSpPr>
            <a:spLocks noGrp="1"/>
          </p:cNvSpPr>
          <p:nvPr>
            <p:ph type="title"/>
          </p:nvPr>
        </p:nvSpPr>
        <p:spPr/>
        <p:txBody>
          <a:bodyPr>
            <a:normAutofit fontScale="90000"/>
          </a:bodyPr>
          <a:lstStyle/>
          <a:p>
            <a:r>
              <a:rPr lang="en-US" altLang="zh-CN" dirty="0"/>
              <a:t>Tasks</a:t>
            </a:r>
            <a:endParaRPr lang="zh-CN" altLang="en-US" dirty="0"/>
          </a:p>
        </p:txBody>
      </p:sp>
      <p:sp>
        <p:nvSpPr>
          <p:cNvPr id="3" name="内容占位符 2">
            <a:extLst>
              <a:ext uri="{FF2B5EF4-FFF2-40B4-BE49-F238E27FC236}">
                <a16:creationId xmlns:a16="http://schemas.microsoft.com/office/drawing/2014/main" id="{D8C58270-1315-93B2-F18F-2DD3A7CF39AA}"/>
              </a:ext>
            </a:extLst>
          </p:cNvPr>
          <p:cNvSpPr>
            <a:spLocks noGrp="1"/>
          </p:cNvSpPr>
          <p:nvPr>
            <p:ph idx="1"/>
          </p:nvPr>
        </p:nvSpPr>
        <p:spPr>
          <a:xfrm>
            <a:off x="239350" y="980728"/>
            <a:ext cx="11617291" cy="532656"/>
          </a:xfrm>
        </p:spPr>
        <p:txBody>
          <a:bodyPr>
            <a:noAutofit/>
          </a:bodyPr>
          <a:lstStyle/>
          <a:p>
            <a:pPr algn="l"/>
            <a:r>
              <a:rPr lang="en-US" altLang="zh-CN" sz="2800" dirty="0"/>
              <a:t>1.Shopping Concept Understanding</a:t>
            </a:r>
          </a:p>
          <a:p>
            <a:pPr algn="l"/>
            <a:r>
              <a:rPr lang="en-US" altLang="zh-CN" sz="2000" dirty="0"/>
              <a:t>This skill emphasizes the ability of LLMs to </a:t>
            </a:r>
            <a:r>
              <a:rPr lang="en-US" altLang="zh-CN" sz="2000" b="1" dirty="0"/>
              <a:t>understand and answer questions related to these concepts</a:t>
            </a:r>
            <a:r>
              <a:rPr lang="en-US" altLang="zh-CN" sz="2000" dirty="0"/>
              <a:t>.</a:t>
            </a:r>
          </a:p>
          <a:p>
            <a:pPr algn="l"/>
            <a:r>
              <a:rPr lang="en-US" altLang="zh-CN" sz="2800" dirty="0"/>
              <a:t>2.Shopping Knowledge Reasoning</a:t>
            </a:r>
          </a:p>
          <a:p>
            <a:pPr algn="l"/>
            <a:r>
              <a:rPr lang="en-US" altLang="zh-CN" sz="2000" b="1" dirty="0"/>
              <a:t>Evaluating the model's reasoning ability on products or product attributes with domain-specific implicit knowledge.</a:t>
            </a:r>
          </a:p>
          <a:p>
            <a:pPr algn="l"/>
            <a:r>
              <a:rPr lang="en-US" altLang="zh-CN" sz="2800" dirty="0"/>
              <a:t>3.User Behavior Alignment</a:t>
            </a:r>
          </a:p>
          <a:p>
            <a:pPr algn="l"/>
            <a:r>
              <a:rPr lang="en-US" altLang="zh-CN" sz="2000" dirty="0"/>
              <a:t>User behavior modeling is of paramount importance in online shopping. However, user behaviors are highly diverse, including browsing, purchasing, query-then-clicking, etc. Moreover, </a:t>
            </a:r>
            <a:r>
              <a:rPr lang="en-US" altLang="zh-CN" sz="2000" b="1" dirty="0"/>
              <a:t>most of them are implicit and not expressed in texts</a:t>
            </a:r>
            <a:r>
              <a:rPr lang="en-US" altLang="zh-CN" sz="2000" dirty="0"/>
              <a:t>. Therefore</a:t>
            </a:r>
            <a:r>
              <a:rPr lang="en-US" altLang="zh-CN" sz="2000" b="1" dirty="0"/>
              <a:t>, aligning with heterogeneous and implicit shopping behaviors is a unique challenge for language models in online shopping,</a:t>
            </a:r>
            <a:r>
              <a:rPr lang="en-US" altLang="zh-CN" sz="2000" dirty="0"/>
              <a:t> which is the primary aim of this track.</a:t>
            </a:r>
          </a:p>
          <a:p>
            <a:pPr algn="l"/>
            <a:r>
              <a:rPr lang="en-US" altLang="zh-CN" sz="2800" dirty="0"/>
              <a:t>4.Multi-lingual Abilities</a:t>
            </a:r>
          </a:p>
          <a:p>
            <a:pPr algn="l"/>
            <a:r>
              <a:rPr lang="en-US" altLang="zh-CN" sz="2000" dirty="0"/>
              <a:t>Multi-lingual models are especially desired in online shopping as they can be deployed in multiple marketplaces without re-training. Therefore, we include a separate </a:t>
            </a:r>
            <a:r>
              <a:rPr lang="en-US" altLang="zh-CN" sz="2000" b="1" dirty="0"/>
              <a:t>multi-lingual track</a:t>
            </a:r>
            <a:r>
              <a:rPr lang="en-US" altLang="zh-CN" sz="2000" dirty="0"/>
              <a:t>, including multi-lingual concept understanding and user behavior alignment, </a:t>
            </a:r>
            <a:r>
              <a:rPr lang="en-US" altLang="zh-CN" sz="2000" b="1" dirty="0"/>
              <a:t>to evaluate how a single model performs in different shopping locales without re-training.</a:t>
            </a:r>
            <a:endParaRPr lang="zh-CN" altLang="en-US" sz="2000" b="1" dirty="0"/>
          </a:p>
        </p:txBody>
      </p:sp>
    </p:spTree>
    <p:extLst>
      <p:ext uri="{BB962C8B-B14F-4D97-AF65-F5344CB8AC3E}">
        <p14:creationId xmlns:p14="http://schemas.microsoft.com/office/powerpoint/2010/main" val="37280611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1BA259-1586-AF98-CE01-516FD3EB27D9}"/>
              </a:ext>
            </a:extLst>
          </p:cNvPr>
          <p:cNvSpPr>
            <a:spLocks noGrp="1"/>
          </p:cNvSpPr>
          <p:nvPr>
            <p:ph type="title"/>
          </p:nvPr>
        </p:nvSpPr>
        <p:spPr/>
        <p:txBody>
          <a:bodyPr>
            <a:normAutofit fontScale="90000"/>
          </a:bodyPr>
          <a:lstStyle/>
          <a:p>
            <a:r>
              <a:rPr lang="en-US" altLang="zh-CN" dirty="0"/>
              <a:t>Leaderboard Solutions</a:t>
            </a:r>
            <a:endParaRPr lang="zh-CN" altLang="en-US" dirty="0"/>
          </a:p>
        </p:txBody>
      </p:sp>
      <p:sp>
        <p:nvSpPr>
          <p:cNvPr id="3" name="内容占位符 2">
            <a:extLst>
              <a:ext uri="{FF2B5EF4-FFF2-40B4-BE49-F238E27FC236}">
                <a16:creationId xmlns:a16="http://schemas.microsoft.com/office/drawing/2014/main" id="{0D4FB7DC-AAD2-FAC8-8FE8-86AC3A9A01CB}"/>
              </a:ext>
            </a:extLst>
          </p:cNvPr>
          <p:cNvSpPr>
            <a:spLocks noGrp="1"/>
          </p:cNvSpPr>
          <p:nvPr>
            <p:ph idx="1"/>
          </p:nvPr>
        </p:nvSpPr>
        <p:spPr/>
        <p:txBody>
          <a:bodyPr>
            <a:noAutofit/>
          </a:bodyPr>
          <a:lstStyle/>
          <a:p>
            <a:pPr algn="l"/>
            <a:r>
              <a:rPr lang="en-US" altLang="zh-CN" dirty="0"/>
              <a:t>1th: Introduce a custom dataset (</a:t>
            </a:r>
            <a:r>
              <a:rPr lang="en-US" altLang="zh-CN" dirty="0" err="1"/>
              <a:t>Eshop</a:t>
            </a:r>
            <a:r>
              <a:rPr lang="en-US" altLang="zh-CN" dirty="0"/>
              <a:t> Instruct) and fine-tune LLMs with </a:t>
            </a:r>
            <a:r>
              <a:rPr lang="en-US" altLang="zh-CN" dirty="0" err="1"/>
              <a:t>LoRA</a:t>
            </a:r>
            <a:r>
              <a:rPr lang="en-US" altLang="zh-CN" dirty="0"/>
              <a:t> and GPTQ quantization, emphasizing prompt engineering.</a:t>
            </a:r>
          </a:p>
          <a:p>
            <a:pPr algn="l"/>
            <a:r>
              <a:rPr lang="en-US" altLang="zh-CN" dirty="0"/>
              <a:t>2th(choose):  Focus on a </a:t>
            </a:r>
            <a:r>
              <a:rPr lang="en-US" altLang="zh-CN" b="1" dirty="0"/>
              <a:t>no-fine-tuning</a:t>
            </a:r>
            <a:r>
              <a:rPr lang="en-US" altLang="zh-CN" dirty="0"/>
              <a:t> approach using base model selection, quantization, and prompt design.</a:t>
            </a:r>
          </a:p>
          <a:p>
            <a:pPr algn="l"/>
            <a:r>
              <a:rPr lang="en-US" altLang="zh-CN" dirty="0"/>
              <a:t>3th: Use fine-tuning with a custom dataset, ensemble </a:t>
            </a:r>
            <a:r>
              <a:rPr lang="en-US" altLang="zh-CN" dirty="0" err="1"/>
              <a:t>LoRA</a:t>
            </a:r>
            <a:r>
              <a:rPr lang="en-US" altLang="zh-CN" dirty="0"/>
              <a:t> adapters, wise-ft, and quantization to achieve top performance across all tracks.</a:t>
            </a:r>
          </a:p>
          <a:p>
            <a:pPr algn="l"/>
            <a:endParaRPr lang="en-US" altLang="zh-CN" sz="2000" dirty="0">
              <a:solidFill>
                <a:schemeClr val="accent2">
                  <a:lumMod val="75000"/>
                </a:schemeClr>
              </a:solidFill>
            </a:endParaRPr>
          </a:p>
          <a:p>
            <a:pPr algn="l"/>
            <a:r>
              <a:rPr lang="en-US" altLang="zh-CN" sz="2000" dirty="0">
                <a:solidFill>
                  <a:schemeClr val="accent2">
                    <a:lumMod val="75000"/>
                  </a:schemeClr>
                </a:solidFill>
              </a:rPr>
              <a:t>We choose prompt engineering because it’s </a:t>
            </a:r>
            <a:r>
              <a:rPr lang="en-US" altLang="zh-CN" sz="2000" b="1" dirty="0">
                <a:solidFill>
                  <a:schemeClr val="accent2">
                    <a:lumMod val="75000"/>
                  </a:schemeClr>
                </a:solidFill>
              </a:rPr>
              <a:t>more efficient for handling the multi-task nature of the problem</a:t>
            </a:r>
            <a:r>
              <a:rPr lang="en-US" altLang="zh-CN" sz="2000" dirty="0">
                <a:solidFill>
                  <a:schemeClr val="accent2">
                    <a:lumMod val="75000"/>
                  </a:schemeClr>
                </a:solidFill>
              </a:rPr>
              <a:t>. Fine-tuning would be resource-intensive, while prompt engineering allows us to </a:t>
            </a:r>
            <a:r>
              <a:rPr lang="en-US" altLang="zh-CN" sz="2000" b="1" dirty="0">
                <a:solidFill>
                  <a:schemeClr val="accent2">
                    <a:lumMod val="75000"/>
                  </a:schemeClr>
                </a:solidFill>
              </a:rPr>
              <a:t>leverage pre-trained models without the need for extensive retraining, making it a faster and scalable solution</a:t>
            </a:r>
            <a:r>
              <a:rPr lang="en-US" altLang="zh-CN" sz="2000" dirty="0">
                <a:solidFill>
                  <a:schemeClr val="accent2">
                    <a:lumMod val="75000"/>
                  </a:schemeClr>
                </a:solidFill>
              </a:rPr>
              <a:t>.</a:t>
            </a:r>
          </a:p>
          <a:p>
            <a:pPr algn="l"/>
            <a:endParaRPr lang="zh-CN" altLang="en-US" dirty="0"/>
          </a:p>
        </p:txBody>
      </p:sp>
    </p:spTree>
    <p:extLst>
      <p:ext uri="{BB962C8B-B14F-4D97-AF65-F5344CB8AC3E}">
        <p14:creationId xmlns:p14="http://schemas.microsoft.com/office/powerpoint/2010/main" val="1481715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CCF0D0D-04DB-2C77-D716-81A24C1DCA97}"/>
              </a:ext>
            </a:extLst>
          </p:cNvPr>
          <p:cNvSpPr>
            <a:spLocks noGrp="1"/>
          </p:cNvSpPr>
          <p:nvPr>
            <p:ph type="title"/>
          </p:nvPr>
        </p:nvSpPr>
        <p:spPr>
          <a:xfrm>
            <a:off x="155154" y="6740"/>
            <a:ext cx="10515600" cy="1325563"/>
          </a:xfrm>
        </p:spPr>
        <p:txBody>
          <a:bodyPr/>
          <a:lstStyle/>
          <a:p>
            <a:r>
              <a:rPr lang="en-US" altLang="zh-CN" dirty="0"/>
              <a:t>Dataset Description(Amazon)</a:t>
            </a:r>
            <a:endParaRPr lang="zh-CN" altLang="en-US" dirty="0"/>
          </a:p>
        </p:txBody>
      </p:sp>
      <p:sp>
        <p:nvSpPr>
          <p:cNvPr id="5" name="内容占位符 4">
            <a:extLst>
              <a:ext uri="{FF2B5EF4-FFF2-40B4-BE49-F238E27FC236}">
                <a16:creationId xmlns:a16="http://schemas.microsoft.com/office/drawing/2014/main" id="{06CF004A-564F-7C8A-ECBE-48672789DC3C}"/>
              </a:ext>
            </a:extLst>
          </p:cNvPr>
          <p:cNvSpPr>
            <a:spLocks noGrp="1"/>
          </p:cNvSpPr>
          <p:nvPr>
            <p:ph idx="1"/>
          </p:nvPr>
        </p:nvSpPr>
        <p:spPr>
          <a:xfrm>
            <a:off x="659633" y="1315292"/>
            <a:ext cx="10674427" cy="4971782"/>
          </a:xfrm>
        </p:spPr>
        <p:txBody>
          <a:bodyPr>
            <a:noAutofit/>
          </a:bodyPr>
          <a:lstStyle/>
          <a:p>
            <a:pPr algn="l"/>
            <a:r>
              <a:rPr lang="en-US" altLang="zh-CN" sz="1800" dirty="0" err="1"/>
              <a:t>ShopBench</a:t>
            </a:r>
            <a:r>
              <a:rPr lang="en-US" altLang="zh-CN" sz="1800" dirty="0"/>
              <a:t> used in this challenge is an anonymized, multi-task dataset sampled from real-world Amazon shopping data. Statistics of </a:t>
            </a:r>
            <a:r>
              <a:rPr lang="en-US" altLang="zh-CN" sz="1800" dirty="0" err="1"/>
              <a:t>ShopBench</a:t>
            </a:r>
            <a:r>
              <a:rPr lang="en-US" altLang="zh-CN" sz="1800" dirty="0"/>
              <a:t> is given in the following Table.</a:t>
            </a:r>
          </a:p>
          <a:p>
            <a:pPr algn="l"/>
            <a:endParaRPr lang="en-US" altLang="zh-CN" sz="1800" dirty="0"/>
          </a:p>
          <a:p>
            <a:pPr algn="l"/>
            <a:endParaRPr lang="en-US" altLang="zh-CN" sz="1800" dirty="0"/>
          </a:p>
          <a:p>
            <a:pPr algn="l"/>
            <a:endParaRPr lang="en-US" altLang="zh-CN" sz="1800" dirty="0"/>
          </a:p>
          <a:p>
            <a:pPr marL="0" indent="0" algn="l">
              <a:buNone/>
            </a:pPr>
            <a:endParaRPr lang="en-US" altLang="zh-CN" sz="1800" dirty="0"/>
          </a:p>
          <a:p>
            <a:pPr marL="0" indent="0" algn="l">
              <a:buNone/>
            </a:pPr>
            <a:endParaRPr lang="en-US" altLang="zh-CN" sz="1800" dirty="0"/>
          </a:p>
          <a:p>
            <a:pPr marL="0" indent="0" algn="l">
              <a:buNone/>
            </a:pPr>
            <a:endParaRPr lang="en-US" altLang="zh-CN" sz="1800" dirty="0"/>
          </a:p>
          <a:p>
            <a:pPr marL="0" indent="0" algn="l">
              <a:buNone/>
            </a:pPr>
            <a:r>
              <a:rPr lang="en-US" altLang="zh-CN" sz="1800" dirty="0"/>
              <a:t>The development datasets will be given in </a:t>
            </a:r>
            <a:r>
              <a:rPr lang="en-US" altLang="zh-CN" sz="1800" dirty="0" err="1"/>
              <a:t>json</a:t>
            </a:r>
            <a:r>
              <a:rPr lang="en-US" altLang="zh-CN" sz="1800" dirty="0"/>
              <a:t> format with the following fields.</a:t>
            </a:r>
          </a:p>
          <a:p>
            <a:pPr algn="l"/>
            <a:r>
              <a:rPr lang="en-US" altLang="zh-CN" sz="1800" b="1" dirty="0" err="1"/>
              <a:t>input_field</a:t>
            </a:r>
            <a:r>
              <a:rPr lang="en-US" altLang="zh-CN" sz="1800" dirty="0"/>
              <a:t>: This field contains the instructions and the question that should be answered by the model.</a:t>
            </a:r>
          </a:p>
          <a:p>
            <a:pPr algn="l"/>
            <a:r>
              <a:rPr lang="en-US" altLang="zh-CN" sz="1800" b="1" dirty="0" err="1"/>
              <a:t>output_field</a:t>
            </a:r>
            <a:r>
              <a:rPr lang="en-US" altLang="zh-CN" sz="1800" dirty="0"/>
              <a:t>: This field contains the ground truth answer to the question.</a:t>
            </a:r>
          </a:p>
          <a:p>
            <a:pPr algn="l"/>
            <a:r>
              <a:rPr lang="en-US" altLang="zh-CN" sz="1800" b="1" dirty="0" err="1"/>
              <a:t>task_type</a:t>
            </a:r>
            <a:r>
              <a:rPr lang="en-US" altLang="zh-CN" sz="1800" dirty="0"/>
              <a:t>: This field demonstrates the task type for the sample, e.g., “Retrieval”.</a:t>
            </a:r>
          </a:p>
          <a:p>
            <a:pPr algn="l"/>
            <a:r>
              <a:rPr lang="en-US" altLang="zh-CN" sz="1800" b="1" dirty="0" err="1"/>
              <a:t>task_name</a:t>
            </a:r>
            <a:r>
              <a:rPr lang="en-US" altLang="zh-CN" sz="1800" dirty="0"/>
              <a:t>: This field contains the name of the task. (e.g. task1, task2).</a:t>
            </a:r>
          </a:p>
          <a:p>
            <a:pPr algn="l"/>
            <a:r>
              <a:rPr lang="en-US" altLang="zh-CN" sz="1800" b="1" dirty="0"/>
              <a:t>metric</a:t>
            </a:r>
            <a:r>
              <a:rPr lang="en-US" altLang="zh-CN" sz="1800" dirty="0"/>
              <a:t>: This field specifies the metric of this sample.</a:t>
            </a:r>
          </a:p>
          <a:p>
            <a:pPr algn="l"/>
            <a:r>
              <a:rPr lang="en-US" altLang="zh-CN" sz="1800" b="1" dirty="0"/>
              <a:t>track</a:t>
            </a:r>
            <a:r>
              <a:rPr lang="en-US" altLang="zh-CN" sz="1800" dirty="0"/>
              <a:t>: This field specifies the track the question comes from, e.g., “Shopping Concept Understanding”.</a:t>
            </a:r>
            <a:endParaRPr lang="zh-CN" altLang="en-US" sz="1800" dirty="0"/>
          </a:p>
        </p:txBody>
      </p:sp>
      <p:graphicFrame>
        <p:nvGraphicFramePr>
          <p:cNvPr id="6" name="表格 5">
            <a:extLst>
              <a:ext uri="{FF2B5EF4-FFF2-40B4-BE49-F238E27FC236}">
                <a16:creationId xmlns:a16="http://schemas.microsoft.com/office/drawing/2014/main" id="{2CF7BEE1-7AA9-D676-61C2-B2AA5B7A6C0F}"/>
              </a:ext>
            </a:extLst>
          </p:cNvPr>
          <p:cNvGraphicFramePr>
            <a:graphicFrameLocks noGrp="1"/>
          </p:cNvGraphicFramePr>
          <p:nvPr>
            <p:extLst>
              <p:ext uri="{D42A27DB-BD31-4B8C-83A1-F6EECF244321}">
                <p14:modId xmlns:p14="http://schemas.microsoft.com/office/powerpoint/2010/main" val="2864481197"/>
              </p:ext>
            </p:extLst>
          </p:nvPr>
        </p:nvGraphicFramePr>
        <p:xfrm>
          <a:off x="730753" y="2124783"/>
          <a:ext cx="9849077" cy="1554480"/>
        </p:xfrm>
        <a:graphic>
          <a:graphicData uri="http://schemas.openxmlformats.org/drawingml/2006/table">
            <a:tbl>
              <a:tblPr firstRow="1" bandRow="1">
                <a:tableStyleId>{21E4AEA4-8DFA-4A89-87EB-49C32662AFE0}</a:tableStyleId>
              </a:tblPr>
              <a:tblGrid>
                <a:gridCol w="1407011">
                  <a:extLst>
                    <a:ext uri="{9D8B030D-6E8A-4147-A177-3AD203B41FA5}">
                      <a16:colId xmlns:a16="http://schemas.microsoft.com/office/drawing/2014/main" val="1891893699"/>
                    </a:ext>
                  </a:extLst>
                </a:gridCol>
                <a:gridCol w="1407011">
                  <a:extLst>
                    <a:ext uri="{9D8B030D-6E8A-4147-A177-3AD203B41FA5}">
                      <a16:colId xmlns:a16="http://schemas.microsoft.com/office/drawing/2014/main" val="3718854112"/>
                    </a:ext>
                  </a:extLst>
                </a:gridCol>
                <a:gridCol w="1407011">
                  <a:extLst>
                    <a:ext uri="{9D8B030D-6E8A-4147-A177-3AD203B41FA5}">
                      <a16:colId xmlns:a16="http://schemas.microsoft.com/office/drawing/2014/main" val="3367008981"/>
                    </a:ext>
                  </a:extLst>
                </a:gridCol>
                <a:gridCol w="1407011">
                  <a:extLst>
                    <a:ext uri="{9D8B030D-6E8A-4147-A177-3AD203B41FA5}">
                      <a16:colId xmlns:a16="http://schemas.microsoft.com/office/drawing/2014/main" val="3930016597"/>
                    </a:ext>
                  </a:extLst>
                </a:gridCol>
                <a:gridCol w="1407011">
                  <a:extLst>
                    <a:ext uri="{9D8B030D-6E8A-4147-A177-3AD203B41FA5}">
                      <a16:colId xmlns:a16="http://schemas.microsoft.com/office/drawing/2014/main" val="1238825252"/>
                    </a:ext>
                  </a:extLst>
                </a:gridCol>
                <a:gridCol w="1407011">
                  <a:extLst>
                    <a:ext uri="{9D8B030D-6E8A-4147-A177-3AD203B41FA5}">
                      <a16:colId xmlns:a16="http://schemas.microsoft.com/office/drawing/2014/main" val="3631315116"/>
                    </a:ext>
                  </a:extLst>
                </a:gridCol>
                <a:gridCol w="1407011">
                  <a:extLst>
                    <a:ext uri="{9D8B030D-6E8A-4147-A177-3AD203B41FA5}">
                      <a16:colId xmlns:a16="http://schemas.microsoft.com/office/drawing/2014/main" val="850471104"/>
                    </a:ext>
                  </a:extLst>
                </a:gridCol>
              </a:tblGrid>
              <a:tr h="743639">
                <a:tc>
                  <a:txBody>
                    <a:bodyPr/>
                    <a:lstStyle/>
                    <a:p>
                      <a:pPr algn="l"/>
                      <a:r>
                        <a:rPr lang="en-US" altLang="zh-CN" dirty="0"/>
                        <a:t>#</a:t>
                      </a:r>
                    </a:p>
                    <a:p>
                      <a:pPr algn="l"/>
                      <a:r>
                        <a:rPr lang="en-US" altLang="zh-CN" dirty="0"/>
                        <a:t>Tasks</a:t>
                      </a:r>
                      <a:endParaRPr lang="zh-CN" altLang="en-US" dirty="0"/>
                    </a:p>
                  </a:txBody>
                  <a:tcPr/>
                </a:tc>
                <a:tc>
                  <a:txBody>
                    <a:bodyPr/>
                    <a:lstStyle/>
                    <a:p>
                      <a:pPr algn="l"/>
                      <a:r>
                        <a:rPr lang="en-US" altLang="zh-CN" dirty="0"/>
                        <a:t>#</a:t>
                      </a:r>
                    </a:p>
                    <a:p>
                      <a:pPr algn="l"/>
                      <a:r>
                        <a:rPr lang="en-US" altLang="zh-CN" dirty="0"/>
                        <a:t>Questions</a:t>
                      </a:r>
                      <a:endParaRPr lang="zh-CN" altLang="en-US" dirty="0"/>
                    </a:p>
                  </a:txBody>
                  <a:tcPr/>
                </a:tc>
                <a:tc>
                  <a:txBody>
                    <a:bodyPr/>
                    <a:lstStyle/>
                    <a:p>
                      <a:pPr algn="l"/>
                      <a:r>
                        <a:rPr lang="en-US" altLang="zh-CN" dirty="0"/>
                        <a:t>#</a:t>
                      </a:r>
                    </a:p>
                    <a:p>
                      <a:pPr algn="l"/>
                      <a:r>
                        <a:rPr lang="en-US" altLang="zh-CN" dirty="0"/>
                        <a:t>Products</a:t>
                      </a:r>
                      <a:endParaRPr lang="zh-CN" altLang="en-US" dirty="0"/>
                    </a:p>
                  </a:txBody>
                  <a:tcPr/>
                </a:tc>
                <a:tc>
                  <a:txBody>
                    <a:bodyPr/>
                    <a:lstStyle/>
                    <a:p>
                      <a:pPr algn="l"/>
                      <a:r>
                        <a:rPr lang="en-US" altLang="zh-CN" dirty="0"/>
                        <a:t>#</a:t>
                      </a:r>
                    </a:p>
                    <a:p>
                      <a:pPr algn="l"/>
                      <a:r>
                        <a:rPr lang="en-US" altLang="zh-CN" dirty="0"/>
                        <a:t>Product Category</a:t>
                      </a:r>
                      <a:endParaRPr lang="zh-CN" altLang="en-US" dirty="0"/>
                    </a:p>
                  </a:txBody>
                  <a:tcPr/>
                </a:tc>
                <a:tc>
                  <a:txBody>
                    <a:bodyPr/>
                    <a:lstStyle/>
                    <a:p>
                      <a:pPr algn="l"/>
                      <a:r>
                        <a:rPr lang="en-US" altLang="zh-CN" dirty="0"/>
                        <a:t># Attributes</a:t>
                      </a:r>
                      <a:endParaRPr lang="zh-CN" altLang="en-US" dirty="0"/>
                    </a:p>
                  </a:txBody>
                  <a:tcPr/>
                </a:tc>
                <a:tc>
                  <a:txBody>
                    <a:bodyPr/>
                    <a:lstStyle/>
                    <a:p>
                      <a:pPr algn="l"/>
                      <a:r>
                        <a:rPr lang="en-US" altLang="zh-CN" dirty="0"/>
                        <a:t>#</a:t>
                      </a:r>
                    </a:p>
                    <a:p>
                      <a:pPr algn="l"/>
                      <a:r>
                        <a:rPr lang="en-US" altLang="zh-CN" dirty="0"/>
                        <a:t> Reviews</a:t>
                      </a:r>
                      <a:endParaRPr lang="zh-CN" altLang="en-US" dirty="0"/>
                    </a:p>
                  </a:txBody>
                  <a:tcPr/>
                </a:tc>
                <a:tc>
                  <a:txBody>
                    <a:bodyPr/>
                    <a:lstStyle/>
                    <a:p>
                      <a:pPr algn="l"/>
                      <a:r>
                        <a:rPr lang="en-US" altLang="zh-CN" dirty="0"/>
                        <a:t># </a:t>
                      </a:r>
                    </a:p>
                    <a:p>
                      <a:pPr algn="l"/>
                      <a:r>
                        <a:rPr lang="en-US" altLang="zh-CN" dirty="0"/>
                        <a:t>Queries</a:t>
                      </a:r>
                      <a:endParaRPr lang="zh-CN" altLang="en-US" dirty="0"/>
                    </a:p>
                  </a:txBody>
                  <a:tcPr/>
                </a:tc>
                <a:extLst>
                  <a:ext uri="{0D108BD9-81ED-4DB2-BD59-A6C34878D82A}">
                    <a16:rowId xmlns:a16="http://schemas.microsoft.com/office/drawing/2014/main" val="314655717"/>
                  </a:ext>
                </a:extLst>
              </a:tr>
              <a:tr h="520548">
                <a:tc>
                  <a:txBody>
                    <a:bodyPr/>
                    <a:lstStyle/>
                    <a:p>
                      <a:pPr algn="l"/>
                      <a:r>
                        <a:rPr lang="en-US" altLang="zh-CN" dirty="0"/>
                        <a:t>57</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20598</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~13300</a:t>
                      </a:r>
                      <a:endParaRPr lang="zh-CN" altLang="en-US" dirty="0"/>
                    </a:p>
                  </a:txBody>
                  <a:tcPr/>
                </a:tc>
                <a:tc>
                  <a:txBody>
                    <a:bodyPr/>
                    <a:lstStyle/>
                    <a:p>
                      <a:pPr algn="l"/>
                      <a:r>
                        <a:rPr lang="en-US" altLang="zh-CN" dirty="0"/>
                        <a:t>400</a:t>
                      </a:r>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1032</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~11200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txBody>
                  <a:tcPr anchor="ctr"/>
                </a:tc>
                <a:tc>
                  <a:txBody>
                    <a:bodyPr/>
                    <a:lstStyle/>
                    <a:p>
                      <a:pPr algn="l"/>
                      <a:r>
                        <a:rPr lang="en-US" altLang="zh-CN" dirty="0"/>
                        <a:t>~4500</a:t>
                      </a:r>
                      <a:endParaRPr lang="zh-CN" altLang="en-US" dirty="0"/>
                    </a:p>
                  </a:txBody>
                  <a:tcPr/>
                </a:tc>
                <a:extLst>
                  <a:ext uri="{0D108BD9-81ED-4DB2-BD59-A6C34878D82A}">
                    <a16:rowId xmlns:a16="http://schemas.microsoft.com/office/drawing/2014/main" val="2920747357"/>
                  </a:ext>
                </a:extLst>
              </a:tr>
            </a:tbl>
          </a:graphicData>
        </a:graphic>
      </p:graphicFrame>
    </p:spTree>
    <p:extLst>
      <p:ext uri="{BB962C8B-B14F-4D97-AF65-F5344CB8AC3E}">
        <p14:creationId xmlns:p14="http://schemas.microsoft.com/office/powerpoint/2010/main" val="3847983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6EC19D0-4304-6666-61EA-84773B956A20}"/>
              </a:ext>
            </a:extLst>
          </p:cNvPr>
          <p:cNvSpPr>
            <a:spLocks noGrp="1"/>
          </p:cNvSpPr>
          <p:nvPr>
            <p:ph type="subTitle" idx="1"/>
          </p:nvPr>
        </p:nvSpPr>
        <p:spPr>
          <a:xfrm>
            <a:off x="742426" y="2133490"/>
            <a:ext cx="10707148" cy="1921768"/>
          </a:xfrm>
        </p:spPr>
        <p:txBody>
          <a:bodyPr>
            <a:noAutofit/>
          </a:bodyPr>
          <a:lstStyle/>
          <a:p>
            <a:pPr algn="l"/>
            <a:r>
              <a:rPr lang="en-US" altLang="zh-CN" sz="2800" dirty="0"/>
              <a:t>A RAG QA system takes a question Q as input and outputs an answer A; </a:t>
            </a:r>
          </a:p>
          <a:p>
            <a:pPr algn="l"/>
            <a:r>
              <a:rPr lang="en-US" altLang="zh-CN" sz="2800" dirty="0"/>
              <a:t>The answer should provide useful information to answer the question, without adding any hallucination or harmful content such as profanity.</a:t>
            </a:r>
          </a:p>
        </p:txBody>
      </p:sp>
      <p:sp>
        <p:nvSpPr>
          <p:cNvPr id="2" name="标题 1">
            <a:extLst>
              <a:ext uri="{FF2B5EF4-FFF2-40B4-BE49-F238E27FC236}">
                <a16:creationId xmlns:a16="http://schemas.microsoft.com/office/drawing/2014/main" id="{D3BCF5B8-8616-9E9A-4193-7A312AE6C337}"/>
              </a:ext>
            </a:extLst>
          </p:cNvPr>
          <p:cNvSpPr>
            <a:spLocks noGrp="1"/>
          </p:cNvSpPr>
          <p:nvPr>
            <p:ph type="title"/>
          </p:nvPr>
        </p:nvSpPr>
        <p:spPr>
          <a:xfrm>
            <a:off x="365014" y="1071770"/>
            <a:ext cx="10972800" cy="1143000"/>
          </a:xfrm>
        </p:spPr>
        <p:txBody>
          <a:bodyPr>
            <a:normAutofit/>
          </a:bodyPr>
          <a:lstStyle/>
          <a:p>
            <a:r>
              <a:rPr lang="en-US" altLang="zh-CN" dirty="0"/>
              <a:t>Comprehensive RAG Benchmark</a:t>
            </a:r>
            <a:endParaRPr lang="zh-CN" altLang="en-US" dirty="0"/>
          </a:p>
        </p:txBody>
      </p:sp>
      <p:pic>
        <p:nvPicPr>
          <p:cNvPr id="4" name="图片 3">
            <a:extLst>
              <a:ext uri="{FF2B5EF4-FFF2-40B4-BE49-F238E27FC236}">
                <a16:creationId xmlns:a16="http://schemas.microsoft.com/office/drawing/2014/main" id="{49E2B512-20AB-5F82-4BED-640CA5F180A6}"/>
              </a:ext>
            </a:extLst>
          </p:cNvPr>
          <p:cNvPicPr>
            <a:picLocks noChangeAspect="1"/>
          </p:cNvPicPr>
          <p:nvPr/>
        </p:nvPicPr>
        <p:blipFill>
          <a:blip r:embed="rId2"/>
          <a:stretch>
            <a:fillRect/>
          </a:stretch>
        </p:blipFill>
        <p:spPr>
          <a:xfrm>
            <a:off x="2481467" y="3707500"/>
            <a:ext cx="6398374" cy="2818956"/>
          </a:xfrm>
          <a:prstGeom prst="rect">
            <a:avLst/>
          </a:prstGeom>
        </p:spPr>
      </p:pic>
    </p:spTree>
    <p:extLst>
      <p:ext uri="{BB962C8B-B14F-4D97-AF65-F5344CB8AC3E}">
        <p14:creationId xmlns:p14="http://schemas.microsoft.com/office/powerpoint/2010/main" val="637487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95CB66-2C50-55CD-5433-C81215DD507D}"/>
              </a:ext>
            </a:extLst>
          </p:cNvPr>
          <p:cNvSpPr>
            <a:spLocks noGrp="1"/>
          </p:cNvSpPr>
          <p:nvPr>
            <p:ph type="title"/>
          </p:nvPr>
        </p:nvSpPr>
        <p:spPr>
          <a:xfrm>
            <a:off x="314960" y="0"/>
            <a:ext cx="10515600" cy="1325563"/>
          </a:xfrm>
        </p:spPr>
        <p:txBody>
          <a:bodyPr/>
          <a:lstStyle/>
          <a:p>
            <a:r>
              <a:rPr lang="en-US" altLang="zh-CN" dirty="0"/>
              <a:t>Dataset Description(Meta)</a:t>
            </a:r>
            <a:endParaRPr lang="zh-CN" altLang="en-US" dirty="0"/>
          </a:p>
        </p:txBody>
      </p:sp>
      <p:sp>
        <p:nvSpPr>
          <p:cNvPr id="3" name="内容占位符 2">
            <a:extLst>
              <a:ext uri="{FF2B5EF4-FFF2-40B4-BE49-F238E27FC236}">
                <a16:creationId xmlns:a16="http://schemas.microsoft.com/office/drawing/2014/main" id="{F468B13A-4779-6CD9-5060-C4BF51DF6ED5}"/>
              </a:ext>
            </a:extLst>
          </p:cNvPr>
          <p:cNvSpPr>
            <a:spLocks noGrp="1"/>
          </p:cNvSpPr>
          <p:nvPr>
            <p:ph idx="1"/>
          </p:nvPr>
        </p:nvSpPr>
        <p:spPr>
          <a:xfrm>
            <a:off x="523240" y="1141571"/>
            <a:ext cx="11353800" cy="4351338"/>
          </a:xfrm>
        </p:spPr>
        <p:txBody>
          <a:bodyPr>
            <a:normAutofit/>
          </a:bodyPr>
          <a:lstStyle/>
          <a:p>
            <a:pPr algn="l"/>
            <a:r>
              <a:rPr lang="en-US" altLang="zh-CN" sz="1800" dirty="0"/>
              <a:t>The CRAG dataset is designed to support the development and evaluation of Retrieval-Augmented Generation (RAG) models. It consists of two main types of data:  </a:t>
            </a:r>
          </a:p>
          <a:p>
            <a:pPr marL="514350" indent="-514350" algn="l">
              <a:buFont typeface="+mj-lt"/>
              <a:buAutoNum type="arabicPeriod"/>
            </a:pPr>
            <a:r>
              <a:rPr lang="en-US" altLang="zh-CN" sz="1800" dirty="0"/>
              <a:t>Question Answering Pairs: Pairs of questions and their corresponding answers.</a:t>
            </a:r>
          </a:p>
          <a:p>
            <a:pPr marL="514350" indent="-514350" algn="l">
              <a:buFont typeface="+mj-lt"/>
              <a:buAutoNum type="arabicPeriod"/>
            </a:pPr>
            <a:r>
              <a:rPr lang="en-US" altLang="zh-CN" sz="1800" dirty="0"/>
              <a:t>Retrieval Contents: Contents for information retrieval to support answer generation.</a:t>
            </a:r>
          </a:p>
        </p:txBody>
      </p:sp>
      <p:graphicFrame>
        <p:nvGraphicFramePr>
          <p:cNvPr id="5" name="表格 4">
            <a:extLst>
              <a:ext uri="{FF2B5EF4-FFF2-40B4-BE49-F238E27FC236}">
                <a16:creationId xmlns:a16="http://schemas.microsoft.com/office/drawing/2014/main" id="{50C475F9-BD5B-5FC7-2474-CEA6BE37B989}"/>
              </a:ext>
            </a:extLst>
          </p:cNvPr>
          <p:cNvGraphicFramePr>
            <a:graphicFrameLocks noGrp="1"/>
          </p:cNvGraphicFramePr>
          <p:nvPr>
            <p:extLst>
              <p:ext uri="{D42A27DB-BD31-4B8C-83A1-F6EECF244321}">
                <p14:modId xmlns:p14="http://schemas.microsoft.com/office/powerpoint/2010/main" val="2154840428"/>
              </p:ext>
            </p:extLst>
          </p:nvPr>
        </p:nvGraphicFramePr>
        <p:xfrm>
          <a:off x="8006080" y="2467134"/>
          <a:ext cx="4008120" cy="3999610"/>
        </p:xfrm>
        <a:graphic>
          <a:graphicData uri="http://schemas.openxmlformats.org/drawingml/2006/table">
            <a:tbl>
              <a:tblPr firstRow="1" bandRow="1">
                <a:tableStyleId>{21E4AEA4-8DFA-4A89-87EB-49C32662AFE0}</a:tableStyleId>
              </a:tblPr>
              <a:tblGrid>
                <a:gridCol w="2004060">
                  <a:extLst>
                    <a:ext uri="{9D8B030D-6E8A-4147-A177-3AD203B41FA5}">
                      <a16:colId xmlns:a16="http://schemas.microsoft.com/office/drawing/2014/main" val="2822648739"/>
                    </a:ext>
                  </a:extLst>
                </a:gridCol>
                <a:gridCol w="2004060">
                  <a:extLst>
                    <a:ext uri="{9D8B030D-6E8A-4147-A177-3AD203B41FA5}">
                      <a16:colId xmlns:a16="http://schemas.microsoft.com/office/drawing/2014/main" val="2148901854"/>
                    </a:ext>
                  </a:extLst>
                </a:gridCol>
              </a:tblGrid>
              <a:tr h="342049">
                <a:tc>
                  <a:txBody>
                    <a:bodyPr/>
                    <a:lstStyle/>
                    <a:p>
                      <a:r>
                        <a:rPr lang="en-US" altLang="zh-CN" sz="1600" dirty="0"/>
                        <a:t>Field Name	</a:t>
                      </a:r>
                      <a:endParaRPr lang="zh-CN" altLang="en-US" sz="1600" dirty="0"/>
                    </a:p>
                  </a:txBody>
                  <a:tcPr/>
                </a:tc>
                <a:tc>
                  <a:txBody>
                    <a:bodyPr/>
                    <a:lstStyle/>
                    <a:p>
                      <a:r>
                        <a:rPr lang="en-US" altLang="zh-CN" sz="1600" dirty="0"/>
                        <a:t>Type</a:t>
                      </a:r>
                      <a:endParaRPr lang="zh-CN" altLang="en-US" sz="1600" dirty="0"/>
                    </a:p>
                  </a:txBody>
                  <a:tcPr/>
                </a:tc>
                <a:extLst>
                  <a:ext uri="{0D108BD9-81ED-4DB2-BD59-A6C34878D82A}">
                    <a16:rowId xmlns:a16="http://schemas.microsoft.com/office/drawing/2014/main" val="1351321476"/>
                  </a:ext>
                </a:extLst>
              </a:tr>
              <a:tr h="342049">
                <a:tc>
                  <a:txBody>
                    <a:bodyPr/>
                    <a:lstStyle/>
                    <a:p>
                      <a:r>
                        <a:rPr lang="en-US" altLang="zh-CN" sz="1600" b="0" kern="1200" dirty="0" err="1">
                          <a:solidFill>
                            <a:schemeClr val="dk1"/>
                          </a:solidFill>
                          <a:effectLst/>
                        </a:rPr>
                        <a:t>interaction_id</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3942749162"/>
                  </a:ext>
                </a:extLst>
              </a:tr>
              <a:tr h="342049">
                <a:tc>
                  <a:txBody>
                    <a:bodyPr/>
                    <a:lstStyle/>
                    <a:p>
                      <a:r>
                        <a:rPr lang="en-US" altLang="zh-CN" sz="1600" b="0" kern="1200" dirty="0" err="1">
                          <a:solidFill>
                            <a:schemeClr val="dk1"/>
                          </a:solidFill>
                          <a:effectLst/>
                        </a:rPr>
                        <a:t>query_time</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2433908496"/>
                  </a:ext>
                </a:extLst>
              </a:tr>
              <a:tr h="342049">
                <a:tc>
                  <a:txBody>
                    <a:bodyPr/>
                    <a:lstStyle/>
                    <a:p>
                      <a:r>
                        <a:rPr lang="en-US" altLang="zh-CN" sz="1600" b="0" kern="1200" dirty="0">
                          <a:solidFill>
                            <a:schemeClr val="dk1"/>
                          </a:solidFill>
                          <a:effectLst/>
                        </a:rPr>
                        <a:t>domain</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3041858361"/>
                  </a:ext>
                </a:extLst>
              </a:tr>
              <a:tr h="342049">
                <a:tc>
                  <a:txBody>
                    <a:bodyPr/>
                    <a:lstStyle/>
                    <a:p>
                      <a:r>
                        <a:rPr lang="en-US" altLang="zh-CN" sz="1600" b="0" kern="1200" dirty="0" err="1">
                          <a:solidFill>
                            <a:schemeClr val="dk1"/>
                          </a:solidFill>
                          <a:effectLst/>
                        </a:rPr>
                        <a:t>question_type</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139280767"/>
                  </a:ext>
                </a:extLst>
              </a:tr>
              <a:tr h="342049">
                <a:tc>
                  <a:txBody>
                    <a:bodyPr/>
                    <a:lstStyle/>
                    <a:p>
                      <a:r>
                        <a:rPr lang="en-US" altLang="zh-CN" sz="1600" b="0" kern="1200" dirty="0" err="1">
                          <a:solidFill>
                            <a:schemeClr val="dk1"/>
                          </a:solidFill>
                          <a:effectLst/>
                        </a:rPr>
                        <a:t>static_or_dynamic</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3979336441"/>
                  </a:ext>
                </a:extLst>
              </a:tr>
              <a:tr h="342049">
                <a:tc>
                  <a:txBody>
                    <a:bodyPr/>
                    <a:lstStyle/>
                    <a:p>
                      <a:r>
                        <a:rPr lang="en-US" altLang="zh-CN" sz="1600" b="0" kern="1200" dirty="0">
                          <a:solidFill>
                            <a:schemeClr val="dk1"/>
                          </a:solidFill>
                          <a:effectLst/>
                        </a:rPr>
                        <a:t>query</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3254354760"/>
                  </a:ext>
                </a:extLst>
              </a:tr>
              <a:tr h="342049">
                <a:tc>
                  <a:txBody>
                    <a:bodyPr/>
                    <a:lstStyle/>
                    <a:p>
                      <a:r>
                        <a:rPr lang="en-US" altLang="zh-CN" sz="1600" b="0" kern="1200" dirty="0">
                          <a:solidFill>
                            <a:schemeClr val="dk1"/>
                          </a:solidFill>
                          <a:effectLst/>
                        </a:rPr>
                        <a:t>answer</a:t>
                      </a:r>
                      <a:endParaRPr lang="zh-CN" altLang="en-US" sz="1600" dirty="0"/>
                    </a:p>
                  </a:txBody>
                  <a:tcPr/>
                </a:tc>
                <a:tc>
                  <a:txBody>
                    <a:bodyPr/>
                    <a:lstStyle/>
                    <a:p>
                      <a:r>
                        <a:rPr lang="en-US" altLang="zh-CN" sz="1600" dirty="0"/>
                        <a:t>string</a:t>
                      </a:r>
                      <a:endParaRPr lang="zh-CN" altLang="en-US" sz="1600" dirty="0"/>
                    </a:p>
                  </a:txBody>
                  <a:tcPr/>
                </a:tc>
                <a:extLst>
                  <a:ext uri="{0D108BD9-81ED-4DB2-BD59-A6C34878D82A}">
                    <a16:rowId xmlns:a16="http://schemas.microsoft.com/office/drawing/2014/main" val="1366755315"/>
                  </a:ext>
                </a:extLst>
              </a:tr>
              <a:tr h="342049">
                <a:tc>
                  <a:txBody>
                    <a:bodyPr/>
                    <a:lstStyle/>
                    <a:p>
                      <a:r>
                        <a:rPr lang="en-US" altLang="zh-CN" sz="1600" b="0" kern="1200" dirty="0" err="1">
                          <a:solidFill>
                            <a:schemeClr val="dk1"/>
                          </a:solidFill>
                          <a:effectLst/>
                        </a:rPr>
                        <a:t>alt_ans</a:t>
                      </a:r>
                      <a:endParaRPr lang="zh-CN" altLang="en-US" sz="1600" dirty="0"/>
                    </a:p>
                  </a:txBody>
                  <a:tcPr/>
                </a:tc>
                <a:tc>
                  <a:txBody>
                    <a:bodyPr/>
                    <a:lstStyle/>
                    <a:p>
                      <a:r>
                        <a:rPr lang="en-US" altLang="zh-CN" sz="1600" dirty="0"/>
                        <a:t>list</a:t>
                      </a:r>
                      <a:endParaRPr lang="zh-CN" altLang="en-US" sz="1600" dirty="0"/>
                    </a:p>
                  </a:txBody>
                  <a:tcPr/>
                </a:tc>
                <a:extLst>
                  <a:ext uri="{0D108BD9-81ED-4DB2-BD59-A6C34878D82A}">
                    <a16:rowId xmlns:a16="http://schemas.microsoft.com/office/drawing/2014/main" val="1229536363"/>
                  </a:ext>
                </a:extLst>
              </a:tr>
              <a:tr h="342049">
                <a:tc>
                  <a:txBody>
                    <a:bodyPr/>
                    <a:lstStyle/>
                    <a:p>
                      <a:r>
                        <a:rPr lang="en-US" altLang="zh-CN" sz="1600" b="0" kern="1200" dirty="0">
                          <a:solidFill>
                            <a:schemeClr val="dk1"/>
                          </a:solidFill>
                          <a:effectLst/>
                        </a:rPr>
                        <a:t>split</a:t>
                      </a:r>
                      <a:endParaRPr lang="zh-CN" altLang="en-US" sz="1600" dirty="0"/>
                    </a:p>
                  </a:txBody>
                  <a:tcPr/>
                </a:tc>
                <a:tc>
                  <a:txBody>
                    <a:bodyPr/>
                    <a:lstStyle/>
                    <a:p>
                      <a:r>
                        <a:rPr lang="en-US" altLang="zh-CN" sz="1600" b="0" kern="1200" dirty="0">
                          <a:solidFill>
                            <a:schemeClr val="dk1"/>
                          </a:solidFill>
                          <a:effectLst/>
                        </a:rPr>
                        <a:t>integer</a:t>
                      </a:r>
                      <a:endParaRPr lang="zh-CN" altLang="en-US" sz="1600" dirty="0"/>
                    </a:p>
                  </a:txBody>
                  <a:tcPr/>
                </a:tc>
                <a:extLst>
                  <a:ext uri="{0D108BD9-81ED-4DB2-BD59-A6C34878D82A}">
                    <a16:rowId xmlns:a16="http://schemas.microsoft.com/office/drawing/2014/main" val="1186342660"/>
                  </a:ext>
                </a:extLst>
              </a:tr>
              <a:tr h="342049">
                <a:tc>
                  <a:txBody>
                    <a:bodyPr/>
                    <a:lstStyle/>
                    <a:p>
                      <a:r>
                        <a:rPr lang="en-US" altLang="zh-CN" sz="1600" b="0" kern="1200" dirty="0" err="1">
                          <a:solidFill>
                            <a:schemeClr val="dk1"/>
                          </a:solidFill>
                          <a:effectLst/>
                        </a:rPr>
                        <a:t>search_results</a:t>
                      </a:r>
                      <a:endParaRPr lang="zh-CN" altLang="en-US" sz="1600" dirty="0"/>
                    </a:p>
                  </a:txBody>
                  <a:tcPr/>
                </a:tc>
                <a:tc>
                  <a:txBody>
                    <a:bodyPr/>
                    <a:lstStyle/>
                    <a:p>
                      <a:r>
                        <a:rPr lang="en-US" altLang="zh-CN" sz="1600" b="0" kern="1200" dirty="0">
                          <a:solidFill>
                            <a:schemeClr val="dk1"/>
                          </a:solidFill>
                          <a:effectLst/>
                        </a:rPr>
                        <a:t>list of JSON</a:t>
                      </a:r>
                      <a:endParaRPr lang="zh-CN" altLang="en-US" sz="1600" dirty="0"/>
                    </a:p>
                  </a:txBody>
                  <a:tcPr/>
                </a:tc>
                <a:extLst>
                  <a:ext uri="{0D108BD9-81ED-4DB2-BD59-A6C34878D82A}">
                    <a16:rowId xmlns:a16="http://schemas.microsoft.com/office/drawing/2014/main" val="2957171163"/>
                  </a:ext>
                </a:extLst>
              </a:tr>
            </a:tbl>
          </a:graphicData>
        </a:graphic>
      </p:graphicFrame>
      <p:sp>
        <p:nvSpPr>
          <p:cNvPr id="7" name="文本框 6">
            <a:extLst>
              <a:ext uri="{FF2B5EF4-FFF2-40B4-BE49-F238E27FC236}">
                <a16:creationId xmlns:a16="http://schemas.microsoft.com/office/drawing/2014/main" id="{E0B170F4-A66A-8EBF-2D09-FC936AFDAAE6}"/>
              </a:ext>
            </a:extLst>
          </p:cNvPr>
          <p:cNvSpPr txBox="1"/>
          <p:nvPr/>
        </p:nvSpPr>
        <p:spPr>
          <a:xfrm>
            <a:off x="548640" y="2387163"/>
            <a:ext cx="7594600" cy="4247317"/>
          </a:xfrm>
          <a:prstGeom prst="rect">
            <a:avLst/>
          </a:prstGeom>
          <a:noFill/>
        </p:spPr>
        <p:txBody>
          <a:bodyPr wrap="square" rtlCol="0">
            <a:spAutoFit/>
          </a:bodyPr>
          <a:lstStyle/>
          <a:p>
            <a:r>
              <a:rPr lang="en-US" altLang="zh-CN" sz="1800" b="1" dirty="0"/>
              <a:t>1. QA Pairs </a:t>
            </a:r>
          </a:p>
          <a:p>
            <a:pPr marL="342900" indent="-342900">
              <a:buFont typeface="Arial" panose="020B0604020202020204" pitchFamily="34" charset="0"/>
              <a:buChar char="•"/>
            </a:pPr>
            <a:r>
              <a:rPr lang="en-US" altLang="zh-CN" sz="1800" b="1" dirty="0"/>
              <a:t>Scope</a:t>
            </a:r>
            <a:r>
              <a:rPr lang="zh-CN" altLang="en-US" b="1" dirty="0"/>
              <a:t>：</a:t>
            </a:r>
            <a:r>
              <a:rPr lang="en-US" altLang="zh-CN" sz="1800" dirty="0"/>
              <a:t>4,409 question-answer pairs across 5 domains (finance, sports, music, movies, open-domain) and 8 question types. </a:t>
            </a:r>
          </a:p>
          <a:p>
            <a:pPr marL="342900" indent="-342900">
              <a:buFont typeface="Arial" panose="020B0604020202020204" pitchFamily="34" charset="0"/>
              <a:buChar char="•"/>
            </a:pPr>
            <a:r>
              <a:rPr lang="en-US" altLang="zh-CN" sz="1800" b="1" dirty="0"/>
              <a:t>Splits: </a:t>
            </a:r>
            <a:r>
              <a:rPr lang="en-US" altLang="zh-CN" sz="1800" dirty="0"/>
              <a:t> Validation (30%), public test (30%), private test (40%). 2,706 examples (validation + public test) released. </a:t>
            </a:r>
          </a:p>
          <a:p>
            <a:pPr marL="342900" indent="-342900">
              <a:buFont typeface="Arial" panose="020B0604020202020204" pitchFamily="34" charset="0"/>
              <a:buChar char="•"/>
            </a:pPr>
            <a:r>
              <a:rPr lang="en-US" altLang="zh-CN" sz="1800" b="1" dirty="0"/>
              <a:t>Key Features:  </a:t>
            </a:r>
            <a:r>
              <a:rPr lang="en-US" altLang="zh-CN" sz="1800" dirty="0"/>
              <a:t>Covers popular to long-tail entities (e.g., "Elon Musk" vs. niche topics). Answers are time-sensitive (e.g., "Who is the UK Prime Minister?"), with a "query time" field for temporal context. </a:t>
            </a:r>
          </a:p>
          <a:p>
            <a:r>
              <a:rPr lang="en-US" altLang="zh-CN" sz="1800" b="1" dirty="0"/>
              <a:t>2. Retrieval Content </a:t>
            </a:r>
            <a:r>
              <a:rPr lang="zh-CN" altLang="en-US" sz="1800" b="1" dirty="0"/>
              <a:t>：</a:t>
            </a:r>
            <a:r>
              <a:rPr lang="en-US" altLang="zh-CN" sz="1800" dirty="0"/>
              <a:t>Simulates real-world data sources for RAG training:</a:t>
            </a:r>
          </a:p>
          <a:p>
            <a:pPr marL="285750" indent="-285750">
              <a:buFont typeface="Arial" panose="020B0604020202020204" pitchFamily="34" charset="0"/>
              <a:buChar char="•"/>
            </a:pPr>
            <a:r>
              <a:rPr lang="en-US" altLang="zh-CN" sz="1800" b="1" dirty="0"/>
              <a:t>Web Search:  </a:t>
            </a:r>
            <a:r>
              <a:rPr lang="en-US" altLang="zh-CN" sz="1800" dirty="0"/>
              <a:t>Up to 50 real-world HTML pages per question (title, URL, snippet, timestamp). 5 pages randomly selected for tasks to mimic noisy search results. </a:t>
            </a:r>
          </a:p>
          <a:p>
            <a:pPr marL="285750" indent="-285750">
              <a:buFont typeface="Arial" panose="020B0604020202020204" pitchFamily="34" charset="0"/>
              <a:buChar char="•"/>
            </a:pPr>
            <a:r>
              <a:rPr lang="en-US" altLang="zh-CN" sz="1800" b="1" dirty="0"/>
              <a:t>Mock Knowledge Graphs (KGs):  </a:t>
            </a:r>
            <a:r>
              <a:rPr lang="en-US" altLang="zh-CN" sz="1800" dirty="0"/>
              <a:t>Contains 2.6 million entities (structured data). Accessed via Mock APIs (domain-specific parameters → JSON output, may include irrelevant/noisy data).</a:t>
            </a:r>
          </a:p>
        </p:txBody>
      </p:sp>
    </p:spTree>
    <p:extLst>
      <p:ext uri="{BB962C8B-B14F-4D97-AF65-F5344CB8AC3E}">
        <p14:creationId xmlns:p14="http://schemas.microsoft.com/office/powerpoint/2010/main" val="2776174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29DFB9-0381-F5E8-E529-2806B6467B15}"/>
              </a:ext>
            </a:extLst>
          </p:cNvPr>
          <p:cNvSpPr>
            <a:spLocks noGrp="1"/>
          </p:cNvSpPr>
          <p:nvPr>
            <p:ph type="title"/>
          </p:nvPr>
        </p:nvSpPr>
        <p:spPr/>
        <p:txBody>
          <a:bodyPr>
            <a:normAutofit fontScale="90000"/>
          </a:bodyPr>
          <a:lstStyle/>
          <a:p>
            <a:r>
              <a:rPr lang="en-US" altLang="zh-CN" dirty="0"/>
              <a:t>Leaderboard</a:t>
            </a:r>
            <a:endParaRPr lang="zh-CN" altLang="en-US" dirty="0"/>
          </a:p>
        </p:txBody>
      </p:sp>
      <p:sp>
        <p:nvSpPr>
          <p:cNvPr id="3" name="内容占位符 2">
            <a:extLst>
              <a:ext uri="{FF2B5EF4-FFF2-40B4-BE49-F238E27FC236}">
                <a16:creationId xmlns:a16="http://schemas.microsoft.com/office/drawing/2014/main" id="{5A2D4CB1-8801-70AD-9969-F7399C421C10}"/>
              </a:ext>
            </a:extLst>
          </p:cNvPr>
          <p:cNvSpPr>
            <a:spLocks noGrp="1"/>
          </p:cNvSpPr>
          <p:nvPr>
            <p:ph idx="1"/>
          </p:nvPr>
        </p:nvSpPr>
        <p:spPr/>
        <p:txBody>
          <a:bodyPr>
            <a:noAutofit/>
          </a:bodyPr>
          <a:lstStyle/>
          <a:p>
            <a:pPr algn="l"/>
            <a:r>
              <a:rPr lang="en-US" altLang="zh-CN" sz="3600" dirty="0"/>
              <a:t>These papers showcase innovative approaches to improving RAG systems, with a focus on reducing hallucinations, optimizing retrieval, and handling dynamic information. The solutions leverage advanced techniques like multi-agent systems, fine-tuning, and prompt engineering to achieve state-of-the-art performance in the CRAG benchmark.</a:t>
            </a:r>
            <a:endParaRPr lang="zh-CN" altLang="en-US" sz="3600" dirty="0"/>
          </a:p>
        </p:txBody>
      </p:sp>
    </p:spTree>
    <p:extLst>
      <p:ext uri="{BB962C8B-B14F-4D97-AF65-F5344CB8AC3E}">
        <p14:creationId xmlns:p14="http://schemas.microsoft.com/office/powerpoint/2010/main" val="436503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DAC39-0023-23B2-BBCC-497BCA67E5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30F305-810F-320D-10C6-69FAC185625F}"/>
              </a:ext>
            </a:extLst>
          </p:cNvPr>
          <p:cNvSpPr>
            <a:spLocks noGrp="1"/>
          </p:cNvSpPr>
          <p:nvPr>
            <p:ph type="title"/>
          </p:nvPr>
        </p:nvSpPr>
        <p:spPr/>
        <p:txBody>
          <a:bodyPr>
            <a:normAutofit fontScale="90000"/>
          </a:bodyPr>
          <a:lstStyle/>
          <a:p>
            <a:r>
              <a:rPr lang="en-US" altLang="zh-CN" dirty="0"/>
              <a:t>Conclusion</a:t>
            </a:r>
            <a:endParaRPr lang="zh-CN" altLang="en-US" dirty="0"/>
          </a:p>
        </p:txBody>
      </p:sp>
      <p:sp>
        <p:nvSpPr>
          <p:cNvPr id="3" name="内容占位符 2">
            <a:extLst>
              <a:ext uri="{FF2B5EF4-FFF2-40B4-BE49-F238E27FC236}">
                <a16:creationId xmlns:a16="http://schemas.microsoft.com/office/drawing/2014/main" id="{BD2E9709-5A4A-2375-74DA-54A95322ACA2}"/>
              </a:ext>
            </a:extLst>
          </p:cNvPr>
          <p:cNvSpPr>
            <a:spLocks noGrp="1"/>
          </p:cNvSpPr>
          <p:nvPr>
            <p:ph idx="1"/>
          </p:nvPr>
        </p:nvSpPr>
        <p:spPr>
          <a:xfrm>
            <a:off x="239350" y="1075720"/>
            <a:ext cx="11617291" cy="532656"/>
          </a:xfrm>
        </p:spPr>
        <p:txBody>
          <a:bodyPr>
            <a:noAutofit/>
          </a:bodyPr>
          <a:lstStyle/>
          <a:p>
            <a:pPr algn="l"/>
            <a:r>
              <a:rPr lang="en-US" altLang="zh-CN" sz="2400" dirty="0"/>
              <a:t>We want to </a:t>
            </a:r>
            <a:r>
              <a:rPr lang="en-US" altLang="zh-CN" sz="2400" b="1" dirty="0"/>
              <a:t>follow Online Shopping Challenge for LLMs</a:t>
            </a:r>
            <a:r>
              <a:rPr lang="en-US" altLang="zh-CN" sz="2400" dirty="0"/>
              <a:t>.</a:t>
            </a:r>
          </a:p>
          <a:p>
            <a:pPr algn="l"/>
            <a:endParaRPr lang="en-US" altLang="zh-CN" sz="2400" dirty="0"/>
          </a:p>
          <a:p>
            <a:pPr marL="514350" indent="-514350" algn="l">
              <a:buAutoNum type="arabicPeriod"/>
            </a:pPr>
            <a:r>
              <a:rPr lang="en-US" altLang="zh-CN" sz="2400" dirty="0"/>
              <a:t>Practical Application: Directly addresses real-world e-commerce challenges, aligning with careers in tech-driven retail or consumer AI.</a:t>
            </a:r>
          </a:p>
          <a:p>
            <a:pPr marL="514350" indent="-514350" algn="l">
              <a:buAutoNum type="arabicPeriod"/>
            </a:pPr>
            <a:r>
              <a:rPr lang="en-US" altLang="zh-CN" sz="2400" dirty="0"/>
              <a:t>Industry Relevance: Skills in user interaction, personalization, and scalability are highly valued in the booming e-commerce sector.</a:t>
            </a:r>
          </a:p>
          <a:p>
            <a:pPr marL="514350" indent="-514350" algn="l">
              <a:buAutoNum type="arabicPeriod"/>
            </a:pPr>
            <a:r>
              <a:rPr lang="en-US" altLang="zh-CN" sz="2400" dirty="0"/>
              <a:t>Business Impact: Solutions may directly influence customer experiences and revenue, offering tangible outcomes.</a:t>
            </a:r>
          </a:p>
          <a:p>
            <a:pPr marL="514350" indent="-514350" algn="l">
              <a:buAutoNum type="arabicPeriod"/>
            </a:pPr>
            <a:r>
              <a:rPr lang="en-US" altLang="zh-CN" sz="2400" dirty="0"/>
              <a:t>Data Access: Work with Amazon’s vast, proprietary datasets, providing unique insights into consumer behavior. </a:t>
            </a:r>
          </a:p>
          <a:p>
            <a:pPr marL="514350" indent="-514350" algn="l">
              <a:buAutoNum type="arabicPeriod"/>
            </a:pPr>
            <a:r>
              <a:rPr lang="en-US" altLang="zh-CN" sz="2400" dirty="0"/>
              <a:t>Career Opportunities: Potential recruitment pathways with Amazon or other retail-tech companies.</a:t>
            </a:r>
          </a:p>
          <a:p>
            <a:pPr marL="514350" indent="-514350" algn="l">
              <a:buAutoNum type="arabicPeriod"/>
            </a:pPr>
            <a:r>
              <a:rPr lang="en-US" altLang="zh-CN" sz="2400" dirty="0"/>
              <a:t>Computer Configuration: These tasks and codes we can handle by our PC.</a:t>
            </a:r>
            <a:endParaRPr lang="zh-CN" altLang="en-US" sz="2400" dirty="0"/>
          </a:p>
        </p:txBody>
      </p:sp>
    </p:spTree>
    <p:extLst>
      <p:ext uri="{BB962C8B-B14F-4D97-AF65-F5344CB8AC3E}">
        <p14:creationId xmlns:p14="http://schemas.microsoft.com/office/powerpoint/2010/main" val="159637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E0EE1-3377-B214-DAED-74908BDECF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474DADB-ABB9-7CBF-210C-E41C74EDEB4A}"/>
              </a:ext>
            </a:extLst>
          </p:cNvPr>
          <p:cNvSpPr>
            <a:spLocks noGrp="1"/>
          </p:cNvSpPr>
          <p:nvPr>
            <p:ph type="title"/>
          </p:nvPr>
        </p:nvSpPr>
        <p:spPr/>
        <p:txBody>
          <a:bodyPr>
            <a:normAutofit fontScale="90000"/>
          </a:bodyPr>
          <a:lstStyle/>
          <a:p>
            <a:r>
              <a:rPr lang="en-US" altLang="zh-CN" dirty="0"/>
              <a:t>Benchmark</a:t>
            </a:r>
            <a:endParaRPr lang="zh-CN" altLang="en-US" dirty="0"/>
          </a:p>
        </p:txBody>
      </p:sp>
      <p:graphicFrame>
        <p:nvGraphicFramePr>
          <p:cNvPr id="5" name="表格 4">
            <a:extLst>
              <a:ext uri="{FF2B5EF4-FFF2-40B4-BE49-F238E27FC236}">
                <a16:creationId xmlns:a16="http://schemas.microsoft.com/office/drawing/2014/main" id="{7654D9A9-7007-FC09-EC5B-A1131FB3AEA8}"/>
              </a:ext>
            </a:extLst>
          </p:cNvPr>
          <p:cNvGraphicFramePr>
            <a:graphicFrameLocks noGrp="1"/>
          </p:cNvGraphicFramePr>
          <p:nvPr>
            <p:extLst>
              <p:ext uri="{D42A27DB-BD31-4B8C-83A1-F6EECF244321}">
                <p14:modId xmlns:p14="http://schemas.microsoft.com/office/powerpoint/2010/main" val="952913837"/>
              </p:ext>
            </p:extLst>
          </p:nvPr>
        </p:nvGraphicFramePr>
        <p:xfrm>
          <a:off x="357016" y="1171167"/>
          <a:ext cx="11286343" cy="5063481"/>
        </p:xfrm>
        <a:graphic>
          <a:graphicData uri="http://schemas.openxmlformats.org/drawingml/2006/table">
            <a:tbl>
              <a:tblPr firstRow="1" bandRow="1">
                <a:tableStyleId>{21E4AEA4-8DFA-4A89-87EB-49C32662AFE0}</a:tableStyleId>
              </a:tblPr>
              <a:tblGrid>
                <a:gridCol w="1639455">
                  <a:extLst>
                    <a:ext uri="{9D8B030D-6E8A-4147-A177-3AD203B41FA5}">
                      <a16:colId xmlns:a16="http://schemas.microsoft.com/office/drawing/2014/main" val="3583547126"/>
                    </a:ext>
                  </a:extLst>
                </a:gridCol>
                <a:gridCol w="2463829">
                  <a:extLst>
                    <a:ext uri="{9D8B030D-6E8A-4147-A177-3AD203B41FA5}">
                      <a16:colId xmlns:a16="http://schemas.microsoft.com/office/drawing/2014/main" val="3281318560"/>
                    </a:ext>
                  </a:extLst>
                </a:gridCol>
                <a:gridCol w="2208049">
                  <a:extLst>
                    <a:ext uri="{9D8B030D-6E8A-4147-A177-3AD203B41FA5}">
                      <a16:colId xmlns:a16="http://schemas.microsoft.com/office/drawing/2014/main" val="2287622886"/>
                    </a:ext>
                  </a:extLst>
                </a:gridCol>
                <a:gridCol w="2487505">
                  <a:extLst>
                    <a:ext uri="{9D8B030D-6E8A-4147-A177-3AD203B41FA5}">
                      <a16:colId xmlns:a16="http://schemas.microsoft.com/office/drawing/2014/main" val="283718489"/>
                    </a:ext>
                  </a:extLst>
                </a:gridCol>
                <a:gridCol w="2487505">
                  <a:extLst>
                    <a:ext uri="{9D8B030D-6E8A-4147-A177-3AD203B41FA5}">
                      <a16:colId xmlns:a16="http://schemas.microsoft.com/office/drawing/2014/main" val="2713615622"/>
                    </a:ext>
                  </a:extLst>
                </a:gridCol>
              </a:tblGrid>
              <a:tr h="982753">
                <a:tc>
                  <a:txBody>
                    <a:bodyPr/>
                    <a:lstStyle/>
                    <a:p>
                      <a:r>
                        <a:rPr lang="en-US" altLang="zh-CN" sz="2000" b="0" dirty="0"/>
                        <a:t>Competition</a:t>
                      </a:r>
                      <a:endParaRPr lang="zh-CN" altLang="en-US" sz="20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solidFill>
                            <a:schemeClr val="bg1"/>
                          </a:solidFill>
                        </a:rPr>
                        <a:t>Amazon</a:t>
                      </a:r>
                      <a:r>
                        <a:rPr lang="en-US" altLang="zh-CN" sz="2000" b="0" dirty="0">
                          <a:solidFill>
                            <a:schemeClr val="bg1"/>
                          </a:solidFill>
                        </a:rPr>
                        <a:t> KDD Cup 2024</a:t>
                      </a:r>
                    </a:p>
                    <a:p>
                      <a:endParaRPr lang="zh-CN" altLang="en-US" sz="2000" dirty="0"/>
                    </a:p>
                  </a:txBody>
                  <a:tcPr/>
                </a:tc>
                <a:tc>
                  <a:txBody>
                    <a:bodyPr/>
                    <a:lstStyle/>
                    <a:p>
                      <a:r>
                        <a:rPr lang="en-US" altLang="zh-CN" sz="2000" dirty="0"/>
                        <a:t>Kaggle </a:t>
                      </a:r>
                      <a:r>
                        <a:rPr lang="en-US" altLang="zh-CN" sz="2000" b="0" dirty="0" err="1"/>
                        <a:t>CommonLit</a:t>
                      </a:r>
                      <a:r>
                        <a:rPr lang="en-US" altLang="zh-CN" sz="2000" b="0" dirty="0"/>
                        <a:t> Readability Prize</a:t>
                      </a:r>
                      <a:endParaRPr lang="zh-CN" altLang="en-US" sz="2000" b="0" dirty="0"/>
                    </a:p>
                  </a:txBody>
                  <a:tcPr/>
                </a:tc>
                <a:tc>
                  <a:txBody>
                    <a:bodyPr/>
                    <a:lstStyle/>
                    <a:p>
                      <a:r>
                        <a:rPr lang="en-US" altLang="zh-CN" sz="2000" b="0" dirty="0"/>
                        <a:t>CIKM Cup2022:</a:t>
                      </a:r>
                      <a:r>
                        <a:rPr lang="zh-CN" altLang="en-US" sz="2000" b="0" dirty="0"/>
                        <a:t> </a:t>
                      </a:r>
                      <a:r>
                        <a:rPr lang="en-US" altLang="zh-CN" sz="2000" dirty="0"/>
                        <a:t>(Alibaba)</a:t>
                      </a:r>
                      <a:endParaRPr lang="zh-CN" altLang="en-US" sz="2000" dirty="0"/>
                    </a:p>
                  </a:txBody>
                  <a:tcPr/>
                </a:tc>
                <a:tc>
                  <a:txBody>
                    <a:bodyPr/>
                    <a:lstStyle/>
                    <a:p>
                      <a:r>
                        <a:rPr lang="en-US" altLang="zh-CN" sz="2000" b="0" dirty="0" err="1"/>
                        <a:t>RecSys</a:t>
                      </a:r>
                      <a:r>
                        <a:rPr lang="en-US" altLang="zh-CN" sz="2000" b="0" dirty="0"/>
                        <a:t> Challenge 2022</a:t>
                      </a:r>
                    </a:p>
                  </a:txBody>
                  <a:tcPr/>
                </a:tc>
                <a:extLst>
                  <a:ext uri="{0D108BD9-81ED-4DB2-BD59-A6C34878D82A}">
                    <a16:rowId xmlns:a16="http://schemas.microsoft.com/office/drawing/2014/main" val="1160112529"/>
                  </a:ext>
                </a:extLst>
              </a:tr>
              <a:tr h="2168912">
                <a:tc>
                  <a:txBody>
                    <a:bodyPr/>
                    <a:lstStyle/>
                    <a:p>
                      <a:r>
                        <a:rPr lang="en-US" altLang="zh-CN" dirty="0"/>
                        <a:t>Task</a:t>
                      </a:r>
                      <a:endParaRPr lang="zh-CN" altLang="en-US" dirty="0"/>
                    </a:p>
                  </a:txBody>
                  <a:tcPr/>
                </a:tc>
                <a:tc>
                  <a:txBody>
                    <a:bodyPr/>
                    <a:lstStyle/>
                    <a:p>
                      <a:r>
                        <a:rPr lang="en-US" altLang="zh-CN" dirty="0"/>
                        <a:t> Enhance e-commerce recommendations and search accuracy through multimodal data and ranking models.</a:t>
                      </a:r>
                      <a:endParaRPr lang="zh-CN" altLang="en-US" dirty="0"/>
                    </a:p>
                  </a:txBody>
                  <a:tcPr/>
                </a:tc>
                <a:tc>
                  <a:txBody>
                    <a:bodyPr/>
                    <a:lstStyle/>
                    <a:p>
                      <a:r>
                        <a:rPr lang="en-US" altLang="zh-CN" dirty="0"/>
                        <a:t>Predict the reading complexity of texts.</a:t>
                      </a:r>
                      <a:endParaRPr lang="zh-CN" altLang="en-US" dirty="0"/>
                    </a:p>
                  </a:txBody>
                  <a:tcPr/>
                </a:tc>
                <a:tc>
                  <a:txBody>
                    <a:bodyPr/>
                    <a:lstStyle/>
                    <a:p>
                      <a:r>
                        <a:rPr lang="en-US" altLang="zh-CN" dirty="0"/>
                        <a:t>Optimizing e-commerce search ranking through multi-stage strategies to enhance product recommendations in long-tail search scenarios.</a:t>
                      </a:r>
                      <a:endParaRPr lang="zh-CN" altLang="en-US" dirty="0"/>
                    </a:p>
                  </a:txBody>
                  <a:tcPr/>
                </a:tc>
                <a:tc>
                  <a:txBody>
                    <a:bodyPr/>
                    <a:lstStyle/>
                    <a:p>
                      <a:r>
                        <a:rPr lang="en-US" altLang="zh-CN" sz="1800" b="0" i="0" kern="1200" dirty="0">
                          <a:solidFill>
                            <a:schemeClr val="dk1"/>
                          </a:solidFill>
                          <a:effectLst/>
                          <a:latin typeface="+mn-lt"/>
                          <a:ea typeface="+mn-ea"/>
                          <a:cs typeface="+mn-cs"/>
                        </a:rPr>
                        <a:t>Design a session-based recommendation system to predict the top products users are most likely to purchase daily.</a:t>
                      </a:r>
                      <a:endParaRPr lang="zh-CN" altLang="en-US" dirty="0"/>
                    </a:p>
                  </a:txBody>
                  <a:tcPr/>
                </a:tc>
                <a:extLst>
                  <a:ext uri="{0D108BD9-81ED-4DB2-BD59-A6C34878D82A}">
                    <a16:rowId xmlns:a16="http://schemas.microsoft.com/office/drawing/2014/main" val="2003901006"/>
                  </a:ext>
                </a:extLst>
              </a:tr>
              <a:tr h="715194">
                <a:tc>
                  <a:txBody>
                    <a:bodyPr/>
                    <a:lstStyle/>
                    <a:p>
                      <a:r>
                        <a:rPr lang="en-US" altLang="zh-CN" dirty="0"/>
                        <a:t>Benchmark Model</a:t>
                      </a:r>
                      <a:endParaRPr lang="zh-CN" altLang="en-US" dirty="0"/>
                    </a:p>
                  </a:txBody>
                  <a:tcPr/>
                </a:tc>
                <a:tc>
                  <a:txBody>
                    <a:bodyPr/>
                    <a:lstStyle/>
                    <a:p>
                      <a:r>
                        <a:rPr lang="en-US" altLang="zh-CN" b="1" dirty="0"/>
                        <a:t>TF-IDF + Logistic regression/</a:t>
                      </a:r>
                      <a:r>
                        <a:rPr lang="en-US" altLang="zh-CN" b="1" dirty="0" err="1"/>
                        <a:t>LightGBM</a:t>
                      </a:r>
                      <a:endParaRPr lang="zh-CN" altLang="en-US" b="1" dirty="0"/>
                    </a:p>
                  </a:txBody>
                  <a:tcPr/>
                </a:tc>
                <a:tc>
                  <a:txBody>
                    <a:bodyPr/>
                    <a:lstStyle/>
                    <a:p>
                      <a:r>
                        <a:rPr lang="en-US" altLang="zh-CN" b="1" dirty="0" err="1"/>
                        <a:t>RoBERTa</a:t>
                      </a:r>
                      <a:endParaRPr lang="zh-CN" altLang="en-US" b="1" dirty="0"/>
                    </a:p>
                  </a:txBody>
                  <a:tcPr/>
                </a:tc>
                <a:tc>
                  <a:txBody>
                    <a:bodyPr/>
                    <a:lstStyle/>
                    <a:p>
                      <a:r>
                        <a:rPr lang="en-US" altLang="zh-CN" b="1" dirty="0"/>
                        <a:t>BM25, TF-IDF + </a:t>
                      </a:r>
                      <a:r>
                        <a:rPr lang="en-US" altLang="zh-CN" b="1" dirty="0" err="1"/>
                        <a:t>LightGBM</a:t>
                      </a:r>
                      <a:endParaRPr lang="zh-CN" altLang="en-US" b="1" dirty="0"/>
                    </a:p>
                  </a:txBody>
                  <a:tcPr/>
                </a:tc>
                <a:tc>
                  <a:txBody>
                    <a:bodyPr/>
                    <a:lstStyle/>
                    <a:p>
                      <a:r>
                        <a:rPr lang="en-US" altLang="zh-CN" sz="1800" b="1" i="0" kern="1200" dirty="0" err="1">
                          <a:solidFill>
                            <a:schemeClr val="dk1"/>
                          </a:solidFill>
                          <a:effectLst/>
                          <a:latin typeface="+mn-lt"/>
                          <a:ea typeface="+mn-ea"/>
                          <a:cs typeface="+mn-cs"/>
                        </a:rPr>
                        <a:t>LightFM</a:t>
                      </a:r>
                      <a:r>
                        <a:rPr lang="en-US" altLang="zh-CN" sz="1800" b="1" i="0" kern="1200" dirty="0">
                          <a:solidFill>
                            <a:schemeClr val="dk1"/>
                          </a:solidFill>
                          <a:effectLst/>
                          <a:latin typeface="+mn-lt"/>
                          <a:ea typeface="+mn-ea"/>
                          <a:cs typeface="+mn-cs"/>
                        </a:rPr>
                        <a:t> , BERT4Rec</a:t>
                      </a:r>
                      <a:endParaRPr lang="zh-CN" altLang="en-US" b="1" dirty="0"/>
                    </a:p>
                  </a:txBody>
                  <a:tcPr/>
                </a:tc>
                <a:extLst>
                  <a:ext uri="{0D108BD9-81ED-4DB2-BD59-A6C34878D82A}">
                    <a16:rowId xmlns:a16="http://schemas.microsoft.com/office/drawing/2014/main" val="1865566620"/>
                  </a:ext>
                </a:extLst>
              </a:tr>
              <a:tr h="1173535">
                <a:tc>
                  <a:txBody>
                    <a:bodyPr/>
                    <a:lstStyle/>
                    <a:p>
                      <a:r>
                        <a:rPr lang="en-US" altLang="zh-CN" dirty="0"/>
                        <a:t>Evaluation Metric</a:t>
                      </a:r>
                      <a:endParaRPr lang="zh-CN" altLang="en-US" dirty="0"/>
                    </a:p>
                  </a:txBody>
                  <a:tcPr/>
                </a:tc>
                <a:tc>
                  <a:txBody>
                    <a:bodyPr/>
                    <a:lstStyle/>
                    <a:p>
                      <a:r>
                        <a:rPr lang="en-US" altLang="zh-CN" sz="1800" b="1" i="0" kern="1200" dirty="0">
                          <a:solidFill>
                            <a:schemeClr val="dk1"/>
                          </a:solidFill>
                          <a:effectLst/>
                          <a:latin typeface="+mn-lt"/>
                          <a:ea typeface="+mn-ea"/>
                          <a:cs typeface="+mn-cs"/>
                        </a:rPr>
                        <a:t>NDCG@K, MRR</a:t>
                      </a:r>
                      <a:r>
                        <a:rPr lang="zh-CN" altLang="en-US" sz="1800" b="1" i="0" kern="1200" dirty="0">
                          <a:solidFill>
                            <a:schemeClr val="dk1"/>
                          </a:solidFill>
                          <a:effectLst/>
                          <a:latin typeface="+mn-lt"/>
                          <a:ea typeface="+mn-ea"/>
                          <a:cs typeface="+mn-cs"/>
                        </a:rPr>
                        <a:t>（</a:t>
                      </a:r>
                      <a:r>
                        <a:rPr lang="en-US" altLang="zh-CN" sz="1800" b="1" i="0" kern="1200" dirty="0">
                          <a:solidFill>
                            <a:schemeClr val="dk1"/>
                          </a:solidFill>
                          <a:effectLst/>
                          <a:latin typeface="+mn-lt"/>
                          <a:ea typeface="+mn-ea"/>
                          <a:cs typeface="+mn-cs"/>
                        </a:rPr>
                        <a:t>Mean Reciprocal Rank</a:t>
                      </a:r>
                      <a:r>
                        <a:rPr lang="zh-CN" altLang="en-US" sz="1800" b="1" i="0" kern="1200" dirty="0">
                          <a:solidFill>
                            <a:schemeClr val="dk1"/>
                          </a:solidFill>
                          <a:effectLst/>
                          <a:latin typeface="+mn-lt"/>
                          <a:ea typeface="+mn-ea"/>
                          <a:cs typeface="+mn-cs"/>
                        </a:rPr>
                        <a:t>）</a:t>
                      </a:r>
                      <a:r>
                        <a:rPr lang="en-US" altLang="zh-CN" sz="1800" b="1" i="0" kern="1200" dirty="0">
                          <a:solidFill>
                            <a:schemeClr val="dk1"/>
                          </a:solidFill>
                          <a:effectLst/>
                          <a:latin typeface="+mn-lt"/>
                          <a:ea typeface="+mn-ea"/>
                          <a:cs typeface="+mn-cs"/>
                        </a:rPr>
                        <a:t>, Hit </a:t>
                      </a:r>
                      <a:r>
                        <a:rPr lang="en-US" altLang="zh-CN" sz="1800" b="1" i="0" kern="1200" dirty="0" err="1">
                          <a:solidFill>
                            <a:schemeClr val="dk1"/>
                          </a:solidFill>
                          <a:effectLst/>
                          <a:latin typeface="+mn-lt"/>
                          <a:ea typeface="+mn-ea"/>
                          <a:cs typeface="+mn-cs"/>
                        </a:rPr>
                        <a:t>Rate@K</a:t>
                      </a:r>
                      <a:endParaRPr lang="zh-CN" altLang="en-US" dirty="0"/>
                    </a:p>
                  </a:txBody>
                  <a:tcPr/>
                </a:tc>
                <a:tc>
                  <a:txBody>
                    <a:bodyPr/>
                    <a:lstStyle/>
                    <a:p>
                      <a:r>
                        <a:rPr lang="en-US" altLang="zh-CN" b="1" dirty="0"/>
                        <a:t>RMSE</a:t>
                      </a:r>
                      <a:endParaRPr lang="zh-CN" altLang="en-US" b="1" dirty="0"/>
                    </a:p>
                  </a:txBody>
                  <a:tcPr/>
                </a:tc>
                <a:tc>
                  <a:txBody>
                    <a:bodyPr/>
                    <a:lstStyle/>
                    <a:p>
                      <a:r>
                        <a:rPr lang="en-US" altLang="zh-CN" b="1" dirty="0"/>
                        <a:t>NDCG@K, MRR, </a:t>
                      </a:r>
                      <a:r>
                        <a:rPr lang="en-US" altLang="zh-CN" b="1" dirty="0" err="1"/>
                        <a:t>Recall@K</a:t>
                      </a:r>
                      <a:endParaRPr lang="zh-CN" altLang="en-US" b="1" dirty="0"/>
                    </a:p>
                  </a:txBody>
                  <a:tcPr/>
                </a:tc>
                <a:tc>
                  <a:txBody>
                    <a:bodyPr/>
                    <a:lstStyle/>
                    <a:p>
                      <a:r>
                        <a:rPr lang="en-US" altLang="zh-CN" sz="1800" b="1" i="0" kern="1200" dirty="0">
                          <a:solidFill>
                            <a:schemeClr val="dk1"/>
                          </a:solidFill>
                          <a:effectLst/>
                          <a:latin typeface="+mn-lt"/>
                          <a:ea typeface="+mn-ea"/>
                          <a:cs typeface="+mn-cs"/>
                        </a:rPr>
                        <a:t>MRR,  NDCG@K, MAP@K, and </a:t>
                      </a:r>
                      <a:r>
                        <a:rPr lang="en-US" altLang="zh-CN" sz="1800" b="1" i="0" kern="1200" dirty="0" err="1">
                          <a:solidFill>
                            <a:schemeClr val="dk1"/>
                          </a:solidFill>
                          <a:effectLst/>
                          <a:latin typeface="+mn-lt"/>
                          <a:ea typeface="+mn-ea"/>
                          <a:cs typeface="+mn-cs"/>
                        </a:rPr>
                        <a:t>Coverage@K</a:t>
                      </a:r>
                      <a:endParaRPr lang="zh-CN" altLang="en-US" b="1" dirty="0"/>
                    </a:p>
                  </a:txBody>
                  <a:tcPr/>
                </a:tc>
                <a:extLst>
                  <a:ext uri="{0D108BD9-81ED-4DB2-BD59-A6C34878D82A}">
                    <a16:rowId xmlns:a16="http://schemas.microsoft.com/office/drawing/2014/main" val="3116799459"/>
                  </a:ext>
                </a:extLst>
              </a:tr>
            </a:tbl>
          </a:graphicData>
        </a:graphic>
      </p:graphicFrame>
    </p:spTree>
    <p:extLst>
      <p:ext uri="{BB962C8B-B14F-4D97-AF65-F5344CB8AC3E}">
        <p14:creationId xmlns:p14="http://schemas.microsoft.com/office/powerpoint/2010/main" val="2790321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FE7C0-3B7D-EE03-5E02-8CF8779337B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D01C239-7CC6-EFEF-B89C-D20328F33D8D}"/>
              </a:ext>
            </a:extLst>
          </p:cNvPr>
          <p:cNvSpPr>
            <a:spLocks noGrp="1"/>
          </p:cNvSpPr>
          <p:nvPr>
            <p:ph type="title"/>
          </p:nvPr>
        </p:nvSpPr>
        <p:spPr/>
        <p:txBody>
          <a:bodyPr>
            <a:normAutofit fontScale="90000"/>
          </a:bodyPr>
          <a:lstStyle/>
          <a:p>
            <a:r>
              <a:rPr lang="en-US" altLang="zh-CN" dirty="0"/>
              <a:t>Benchmark: Evaluation Metric </a:t>
            </a:r>
            <a:endParaRPr lang="zh-CN" altLang="en-US" dirty="0"/>
          </a:p>
        </p:txBody>
      </p:sp>
      <p:sp>
        <p:nvSpPr>
          <p:cNvPr id="3" name="内容占位符 2">
            <a:extLst>
              <a:ext uri="{FF2B5EF4-FFF2-40B4-BE49-F238E27FC236}">
                <a16:creationId xmlns:a16="http://schemas.microsoft.com/office/drawing/2014/main" id="{8A346143-D480-A2E8-24BC-F5E34E6FE247}"/>
              </a:ext>
            </a:extLst>
          </p:cNvPr>
          <p:cNvSpPr>
            <a:spLocks noGrp="1"/>
          </p:cNvSpPr>
          <p:nvPr>
            <p:ph idx="1"/>
          </p:nvPr>
        </p:nvSpPr>
        <p:spPr>
          <a:xfrm>
            <a:off x="361270" y="1157000"/>
            <a:ext cx="11617291" cy="532656"/>
          </a:xfrm>
        </p:spPr>
        <p:txBody>
          <a:bodyPr>
            <a:noAutofit/>
          </a:bodyPr>
          <a:lstStyle/>
          <a:p>
            <a:pPr algn="l"/>
            <a:r>
              <a:rPr lang="en-US" altLang="zh-CN" sz="2400" b="1" dirty="0"/>
              <a:t>1.Search Task Metrics</a:t>
            </a:r>
          </a:p>
          <a:p>
            <a:pPr marL="342900" indent="-342900" algn="l">
              <a:buFont typeface="Arial" panose="020B0604020202020204" pitchFamily="34" charset="0"/>
              <a:buChar char="•"/>
            </a:pPr>
            <a:r>
              <a:rPr lang="en-US" altLang="zh-CN" sz="2000" dirty="0"/>
              <a:t>NDCG@K: Measures ranking quality with position-based weighting.</a:t>
            </a:r>
          </a:p>
          <a:p>
            <a:pPr marL="342900" indent="-342900" algn="l">
              <a:buFont typeface="Arial" panose="020B0604020202020204" pitchFamily="34" charset="0"/>
              <a:buChar char="•"/>
            </a:pPr>
            <a:r>
              <a:rPr lang="en-US" altLang="zh-CN" sz="2000" dirty="0"/>
              <a:t>MRR (Mean Reciprocal Rank): Average reciprocal rank of the first relevant result.</a:t>
            </a:r>
          </a:p>
          <a:p>
            <a:pPr marL="342900" indent="-342900" algn="l">
              <a:buFont typeface="Arial" panose="020B0604020202020204" pitchFamily="34" charset="0"/>
              <a:buChar char="•"/>
            </a:pPr>
            <a:r>
              <a:rPr lang="en-US" altLang="zh-CN" sz="2000" dirty="0"/>
              <a:t>Hit </a:t>
            </a:r>
            <a:r>
              <a:rPr lang="en-US" altLang="zh-CN" sz="2000" dirty="0" err="1"/>
              <a:t>Rate@K</a:t>
            </a:r>
            <a:r>
              <a:rPr lang="en-US" altLang="zh-CN" sz="2000" dirty="0"/>
              <a:t>: Whether the correct answer is present in the top-K results.</a:t>
            </a:r>
          </a:p>
          <a:p>
            <a:pPr algn="l"/>
            <a:r>
              <a:rPr lang="en-US" altLang="zh-CN" sz="2400" b="1" dirty="0"/>
              <a:t>2.Recommendation/Classification Retrieval Task Metrics</a:t>
            </a:r>
          </a:p>
          <a:p>
            <a:pPr marL="342900" indent="-342900" algn="l">
              <a:buFont typeface="Arial" panose="020B0604020202020204" pitchFamily="34" charset="0"/>
              <a:buChar char="•"/>
            </a:pPr>
            <a:r>
              <a:rPr lang="en-US" altLang="zh-CN" sz="2000" dirty="0" err="1"/>
              <a:t>Precision@K</a:t>
            </a:r>
            <a:r>
              <a:rPr lang="en-US" altLang="zh-CN" sz="2000" dirty="0"/>
              <a:t>/</a:t>
            </a:r>
            <a:r>
              <a:rPr lang="en-US" altLang="zh-CN" sz="2000" dirty="0" err="1"/>
              <a:t>Recall@K</a:t>
            </a:r>
            <a:r>
              <a:rPr lang="en-US" altLang="zh-CN" sz="2000" dirty="0"/>
              <a:t>: Accuracy and coverage of top-K recommendations.</a:t>
            </a:r>
          </a:p>
          <a:p>
            <a:pPr marL="342900" indent="-342900" algn="l">
              <a:buFont typeface="Arial" panose="020B0604020202020204" pitchFamily="34" charset="0"/>
              <a:buChar char="•"/>
            </a:pPr>
            <a:r>
              <a:rPr lang="en-US" altLang="zh-CN" sz="2000" dirty="0"/>
              <a:t>MAP (Mean Average Precision): Overall ranking quality.</a:t>
            </a:r>
          </a:p>
          <a:p>
            <a:pPr marL="342900" indent="-342900" algn="l">
              <a:buFont typeface="Arial" panose="020B0604020202020204" pitchFamily="34" charset="0"/>
              <a:buChar char="•"/>
            </a:pPr>
            <a:r>
              <a:rPr lang="en-US" altLang="zh-CN" sz="2000" dirty="0"/>
              <a:t>AUC-ROC: Overall performance for binary classification recommendations</a:t>
            </a:r>
            <a:r>
              <a:rPr lang="en-US" altLang="zh-CN" sz="2400" dirty="0"/>
              <a:t>.</a:t>
            </a:r>
          </a:p>
          <a:p>
            <a:pPr algn="l"/>
            <a:r>
              <a:rPr lang="en-US" altLang="zh-CN" sz="2400" b="1" dirty="0"/>
              <a:t>3.LLM Generation Quality Metrics (for generative recommendations)</a:t>
            </a:r>
          </a:p>
          <a:p>
            <a:pPr marL="342900" indent="-342900" algn="l">
              <a:buFont typeface="Arial" panose="020B0604020202020204" pitchFamily="34" charset="0"/>
              <a:buChar char="•"/>
            </a:pPr>
            <a:r>
              <a:rPr lang="en-US" altLang="zh-CN" sz="2000" dirty="0"/>
              <a:t>ROUGE-L: Text overlap between generated and reference answers.</a:t>
            </a:r>
          </a:p>
          <a:p>
            <a:pPr marL="342900" indent="-342900" algn="l">
              <a:buFont typeface="Arial" panose="020B0604020202020204" pitchFamily="34" charset="0"/>
              <a:buChar char="•"/>
            </a:pPr>
            <a:r>
              <a:rPr lang="en-US" altLang="zh-CN" sz="2000" dirty="0" err="1"/>
              <a:t>BERTScore</a:t>
            </a:r>
            <a:r>
              <a:rPr lang="en-US" altLang="zh-CN" sz="2000" dirty="0"/>
              <a:t>: Semantic similarity evaluation using BERT embeddings.</a:t>
            </a:r>
          </a:p>
          <a:p>
            <a:pPr marL="342900" indent="-342900" algn="l">
              <a:buFont typeface="Arial" panose="020B0604020202020204" pitchFamily="34" charset="0"/>
              <a:buChar char="•"/>
            </a:pPr>
            <a:r>
              <a:rPr lang="en-US" altLang="zh-CN" sz="2000" dirty="0"/>
              <a:t>Perplexity: Measures generation fluency (lower is better).</a:t>
            </a:r>
          </a:p>
          <a:p>
            <a:pPr algn="l"/>
            <a:endParaRPr lang="en-US" altLang="zh-CN" sz="2000" b="1" dirty="0"/>
          </a:p>
          <a:p>
            <a:pPr marL="342900" indent="-342900" algn="l">
              <a:buFont typeface="Arial" panose="020B0604020202020204" pitchFamily="34" charset="0"/>
              <a:buChar char="•"/>
            </a:pPr>
            <a:endParaRPr lang="zh-CN" altLang="en-US" sz="2000" dirty="0"/>
          </a:p>
        </p:txBody>
      </p:sp>
    </p:spTree>
    <p:extLst>
      <p:ext uri="{BB962C8B-B14F-4D97-AF65-F5344CB8AC3E}">
        <p14:creationId xmlns:p14="http://schemas.microsoft.com/office/powerpoint/2010/main" val="33900031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9A3DD-31F3-6FD0-D278-81E1A490B36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FAF162-A9C8-37D4-EEA8-CA9975C3C99F}"/>
              </a:ext>
            </a:extLst>
          </p:cNvPr>
          <p:cNvSpPr>
            <a:spLocks noGrp="1"/>
          </p:cNvSpPr>
          <p:nvPr>
            <p:ph type="title"/>
          </p:nvPr>
        </p:nvSpPr>
        <p:spPr/>
        <p:txBody>
          <a:bodyPr>
            <a:normAutofit fontScale="90000"/>
          </a:bodyPr>
          <a:lstStyle/>
          <a:p>
            <a:r>
              <a:rPr lang="en-US" altLang="zh-CN" dirty="0"/>
              <a:t>How to Determine Success</a:t>
            </a:r>
            <a:endParaRPr lang="zh-CN" altLang="en-US" dirty="0"/>
          </a:p>
        </p:txBody>
      </p:sp>
      <p:sp>
        <p:nvSpPr>
          <p:cNvPr id="3" name="内容占位符 2">
            <a:extLst>
              <a:ext uri="{FF2B5EF4-FFF2-40B4-BE49-F238E27FC236}">
                <a16:creationId xmlns:a16="http://schemas.microsoft.com/office/drawing/2014/main" id="{312A55A5-B2F1-CF69-4A60-8BA7058760A1}"/>
              </a:ext>
            </a:extLst>
          </p:cNvPr>
          <p:cNvSpPr>
            <a:spLocks noGrp="1"/>
          </p:cNvSpPr>
          <p:nvPr>
            <p:ph idx="1"/>
          </p:nvPr>
        </p:nvSpPr>
        <p:spPr>
          <a:xfrm>
            <a:off x="361270" y="1157000"/>
            <a:ext cx="11617291" cy="532656"/>
          </a:xfrm>
        </p:spPr>
        <p:txBody>
          <a:bodyPr>
            <a:noAutofit/>
          </a:bodyPr>
          <a:lstStyle/>
          <a:p>
            <a:pPr algn="l"/>
            <a:r>
              <a:rPr lang="en-US" altLang="zh-CN" sz="2400" b="1" dirty="0"/>
              <a:t>1.Quantitative Thresholds</a:t>
            </a:r>
          </a:p>
          <a:p>
            <a:pPr marL="342900" indent="-342900" algn="l">
              <a:buFont typeface="Arial" panose="020B0604020202020204" pitchFamily="34" charset="0"/>
              <a:buChar char="•"/>
            </a:pPr>
            <a:r>
              <a:rPr lang="en-US" altLang="zh-CN" sz="2000" dirty="0"/>
              <a:t>Compare metrics (e.g., BLEU, ROUGE) against SOTA or task-specific baselines.</a:t>
            </a:r>
          </a:p>
          <a:p>
            <a:pPr marL="342900" indent="-342900" algn="l">
              <a:buFont typeface="Arial" panose="020B0604020202020204" pitchFamily="34" charset="0"/>
              <a:buChar char="•"/>
            </a:pPr>
            <a:r>
              <a:rPr lang="en-US" altLang="zh-CN" sz="2000" dirty="0"/>
              <a:t>Example: If SOTA BLEU=40 for translation, aim for BLEU ≥ 38 in early iterations.</a:t>
            </a:r>
          </a:p>
          <a:p>
            <a:pPr algn="l"/>
            <a:r>
              <a:rPr lang="en-US" altLang="zh-CN" sz="2400" b="1" dirty="0"/>
              <a:t>2.Qualitative Human Checks</a:t>
            </a:r>
          </a:p>
          <a:p>
            <a:pPr marL="342900" indent="-342900" algn="l">
              <a:buFont typeface="Arial" panose="020B0604020202020204" pitchFamily="34" charset="0"/>
              <a:buChar char="•"/>
            </a:pPr>
            <a:r>
              <a:rPr lang="en-US" altLang="zh-CN" sz="2000" dirty="0"/>
              <a:t>Accuracy: Does the output align with input intent? (e.g., translation preserves meaning).</a:t>
            </a:r>
          </a:p>
          <a:p>
            <a:pPr marL="342900" indent="-342900" algn="l">
              <a:buFont typeface="Arial" panose="020B0604020202020204" pitchFamily="34" charset="0"/>
              <a:buChar char="•"/>
            </a:pPr>
            <a:r>
              <a:rPr lang="en-US" altLang="zh-CN" sz="2000" dirty="0"/>
              <a:t>Fluency: Is the text natural/readable?</a:t>
            </a:r>
          </a:p>
          <a:p>
            <a:pPr marL="342900" indent="-342900" algn="l">
              <a:buFont typeface="Arial" panose="020B0604020202020204" pitchFamily="34" charset="0"/>
              <a:buChar char="•"/>
            </a:pPr>
            <a:r>
              <a:rPr lang="en-US" altLang="zh-CN" sz="2000" dirty="0"/>
              <a:t>Utility: Does it solve real-world needs? (e.g., code runs, summaries are actionable).</a:t>
            </a:r>
          </a:p>
          <a:p>
            <a:pPr algn="l"/>
            <a:r>
              <a:rPr lang="en-US" altLang="zh-CN" sz="2400" b="1" dirty="0"/>
              <a:t>3.Domain-Specific Validation</a:t>
            </a:r>
          </a:p>
          <a:p>
            <a:pPr marL="342900" indent="-342900" algn="l">
              <a:buFont typeface="Arial" panose="020B0604020202020204" pitchFamily="34" charset="0"/>
              <a:buChar char="•"/>
            </a:pPr>
            <a:r>
              <a:rPr lang="en-US" altLang="zh-CN" sz="2000" dirty="0"/>
              <a:t>Medical/Legal Texts: Verify terminology consistency with experts.</a:t>
            </a:r>
          </a:p>
          <a:p>
            <a:pPr marL="342900" indent="-342900" algn="l">
              <a:buFont typeface="Arial" panose="020B0604020202020204" pitchFamily="34" charset="0"/>
              <a:buChar char="•"/>
            </a:pPr>
            <a:r>
              <a:rPr lang="en-US" altLang="zh-CN" sz="2000" dirty="0"/>
              <a:t>Creative Writing: Assess originality and narrative flow.</a:t>
            </a:r>
          </a:p>
          <a:p>
            <a:pPr algn="l"/>
            <a:r>
              <a:rPr lang="en-US" altLang="zh-CN" sz="2400" b="1" dirty="0"/>
              <a:t>4.Robustness Tests</a:t>
            </a:r>
          </a:p>
          <a:p>
            <a:pPr marL="342900" indent="-342900" algn="l">
              <a:buFont typeface="Arial" panose="020B0604020202020204" pitchFamily="34" charset="0"/>
              <a:buChar char="•"/>
            </a:pPr>
            <a:r>
              <a:rPr lang="en-US" altLang="zh-CN" sz="2000" dirty="0"/>
              <a:t>Adversarial Inputs: Test ambiguous/edge-case prompts.</a:t>
            </a:r>
          </a:p>
          <a:p>
            <a:pPr marL="342900" indent="-342900" algn="l">
              <a:buFont typeface="Arial" panose="020B0604020202020204" pitchFamily="34" charset="0"/>
              <a:buChar char="•"/>
            </a:pPr>
            <a:r>
              <a:rPr lang="en-US" altLang="zh-CN" sz="2000" dirty="0"/>
              <a:t>Bias/Safety: Filter harmful or biased content (e.g., Hugging Face’s </a:t>
            </a:r>
            <a:r>
              <a:rPr lang="en-US" altLang="zh-CN" sz="2000" dirty="0" err="1"/>
              <a:t>safetensors</a:t>
            </a:r>
            <a:r>
              <a:rPr lang="en-US" altLang="zh-CN" sz="2000" dirty="0"/>
              <a:t>).</a:t>
            </a:r>
            <a:endParaRPr lang="zh-CN" altLang="en-US" sz="2000" dirty="0"/>
          </a:p>
        </p:txBody>
      </p:sp>
    </p:spTree>
    <p:extLst>
      <p:ext uri="{BB962C8B-B14F-4D97-AF65-F5344CB8AC3E}">
        <p14:creationId xmlns:p14="http://schemas.microsoft.com/office/powerpoint/2010/main" val="2903555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4800-502A-E4A0-95D7-BAA3693037F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B8273F0-6C56-499F-4137-5C6628458ACF}"/>
              </a:ext>
            </a:extLst>
          </p:cNvPr>
          <p:cNvSpPr>
            <a:spLocks noGrp="1"/>
          </p:cNvSpPr>
          <p:nvPr>
            <p:ph type="title"/>
          </p:nvPr>
        </p:nvSpPr>
        <p:spPr/>
        <p:txBody>
          <a:bodyPr>
            <a:normAutofit fontScale="90000"/>
          </a:bodyPr>
          <a:lstStyle/>
          <a:p>
            <a:r>
              <a:rPr lang="en-US" altLang="zh-CN" dirty="0"/>
              <a:t>Leaderboard Solution</a:t>
            </a:r>
            <a:endParaRPr lang="zh-CN" altLang="en-US" dirty="0"/>
          </a:p>
        </p:txBody>
      </p:sp>
      <p:sp>
        <p:nvSpPr>
          <p:cNvPr id="3" name="内容占位符 2">
            <a:extLst>
              <a:ext uri="{FF2B5EF4-FFF2-40B4-BE49-F238E27FC236}">
                <a16:creationId xmlns:a16="http://schemas.microsoft.com/office/drawing/2014/main" id="{69D7354B-FA2C-DD03-2967-19B9B6B5C287}"/>
              </a:ext>
            </a:extLst>
          </p:cNvPr>
          <p:cNvSpPr>
            <a:spLocks noGrp="1"/>
          </p:cNvSpPr>
          <p:nvPr>
            <p:ph idx="1"/>
          </p:nvPr>
        </p:nvSpPr>
        <p:spPr>
          <a:xfrm>
            <a:off x="239350" y="980728"/>
            <a:ext cx="11617291" cy="532656"/>
          </a:xfrm>
        </p:spPr>
        <p:txBody>
          <a:bodyPr>
            <a:noAutofit/>
          </a:bodyPr>
          <a:lstStyle/>
          <a:p>
            <a:pPr algn="l"/>
            <a:r>
              <a:rPr lang="en-US" altLang="zh-CN" sz="2800" dirty="0"/>
              <a:t>Second Place Solution—Focused on a no-fine-tuning approach using base model selection, quantization, and prompt design.</a:t>
            </a:r>
          </a:p>
          <a:p>
            <a:pPr algn="l"/>
            <a:r>
              <a:rPr lang="en-US" altLang="zh-CN" sz="2000" dirty="0">
                <a:solidFill>
                  <a:schemeClr val="accent6">
                    <a:lumMod val="75000"/>
                  </a:schemeClr>
                </a:solidFill>
              </a:rPr>
              <a:t>This solution from the </a:t>
            </a:r>
            <a:r>
              <a:rPr lang="en-US" altLang="zh-CN" sz="2000" dirty="0" err="1">
                <a:solidFill>
                  <a:schemeClr val="accent6">
                    <a:lumMod val="75000"/>
                  </a:schemeClr>
                </a:solidFill>
              </a:rPr>
              <a:t>AML_Lab@CityU</a:t>
            </a:r>
            <a:r>
              <a:rPr lang="en-US" altLang="zh-CN" sz="2000" dirty="0">
                <a:solidFill>
                  <a:schemeClr val="accent6">
                    <a:lumMod val="75000"/>
                  </a:schemeClr>
                </a:solidFill>
              </a:rPr>
              <a:t> team, which achieved second place in the Amazon KDD Cup 2024. </a:t>
            </a:r>
          </a:p>
          <a:p>
            <a:pPr algn="l"/>
            <a:endParaRPr lang="en-US" altLang="zh-CN" sz="2400" dirty="0">
              <a:solidFill>
                <a:schemeClr val="accent2">
                  <a:lumMod val="60000"/>
                  <a:lumOff val="40000"/>
                </a:schemeClr>
              </a:solidFill>
            </a:endParaRPr>
          </a:p>
        </p:txBody>
      </p:sp>
      <p:sp>
        <p:nvSpPr>
          <p:cNvPr id="4" name="文本框 3">
            <a:extLst>
              <a:ext uri="{FF2B5EF4-FFF2-40B4-BE49-F238E27FC236}">
                <a16:creationId xmlns:a16="http://schemas.microsoft.com/office/drawing/2014/main" id="{EC1D22CB-E4ED-67CA-213B-9DABADA14B20}"/>
              </a:ext>
            </a:extLst>
          </p:cNvPr>
          <p:cNvSpPr txBox="1"/>
          <p:nvPr/>
        </p:nvSpPr>
        <p:spPr>
          <a:xfrm>
            <a:off x="301492" y="2447964"/>
            <a:ext cx="7767440" cy="4524315"/>
          </a:xfrm>
          <a:prstGeom prst="rect">
            <a:avLst/>
          </a:prstGeom>
          <a:noFill/>
        </p:spPr>
        <p:txBody>
          <a:bodyPr wrap="square" rtlCol="0">
            <a:spAutoFit/>
          </a:bodyPr>
          <a:lstStyle/>
          <a:p>
            <a:pPr algn="l"/>
            <a:r>
              <a:rPr lang="en-US" altLang="zh-CN" sz="2400" dirty="0">
                <a:solidFill>
                  <a:schemeClr val="accent2">
                    <a:lumMod val="75000"/>
                  </a:schemeClr>
                </a:solidFill>
              </a:rPr>
              <a:t>The team developed a pipeline for answering diverse and complex online shopping questions using </a:t>
            </a:r>
            <a:r>
              <a:rPr lang="en-US" altLang="zh-CN" sz="2400" b="1" dirty="0">
                <a:solidFill>
                  <a:schemeClr val="accent2">
                    <a:lumMod val="75000"/>
                  </a:schemeClr>
                </a:solidFill>
              </a:rPr>
              <a:t>Large Language Models (LLMs) without fine-tuning</a:t>
            </a:r>
            <a:r>
              <a:rPr lang="en-US" altLang="zh-CN" sz="2400" dirty="0">
                <a:solidFill>
                  <a:schemeClr val="accent2">
                    <a:lumMod val="75000"/>
                  </a:schemeClr>
                </a:solidFill>
              </a:rPr>
              <a:t>. The pipeline consists of </a:t>
            </a:r>
            <a:r>
              <a:rPr lang="en-US" altLang="zh-CN" sz="2400" b="1" dirty="0">
                <a:solidFill>
                  <a:schemeClr val="accent2">
                    <a:lumMod val="75000"/>
                  </a:schemeClr>
                </a:solidFill>
              </a:rPr>
              <a:t>three main steps</a:t>
            </a:r>
            <a:r>
              <a:rPr lang="en-US" altLang="zh-CN" sz="2400" dirty="0">
                <a:solidFill>
                  <a:schemeClr val="accent2">
                    <a:lumMod val="75000"/>
                  </a:schemeClr>
                </a:solidFill>
              </a:rPr>
              <a:t>: </a:t>
            </a:r>
            <a:r>
              <a:rPr lang="en-US" altLang="zh-CN" sz="2400" b="1" dirty="0">
                <a:solidFill>
                  <a:schemeClr val="accent2">
                    <a:lumMod val="75000"/>
                  </a:schemeClr>
                </a:solidFill>
              </a:rPr>
              <a:t>base model selection</a:t>
            </a:r>
            <a:r>
              <a:rPr lang="en-US" altLang="zh-CN" sz="2400" dirty="0">
                <a:solidFill>
                  <a:schemeClr val="accent2">
                    <a:lumMod val="75000"/>
                  </a:schemeClr>
                </a:solidFill>
              </a:rPr>
              <a:t>, </a:t>
            </a:r>
            <a:r>
              <a:rPr lang="en-US" altLang="zh-CN" sz="2400" b="1" dirty="0">
                <a:solidFill>
                  <a:schemeClr val="accent2">
                    <a:lumMod val="75000"/>
                  </a:schemeClr>
                </a:solidFill>
              </a:rPr>
              <a:t>pre-trained model quantization</a:t>
            </a:r>
            <a:r>
              <a:rPr lang="en-US" altLang="zh-CN" sz="2400" dirty="0">
                <a:solidFill>
                  <a:schemeClr val="accent2">
                    <a:lumMod val="75000"/>
                  </a:schemeClr>
                </a:solidFill>
              </a:rPr>
              <a:t>, and</a:t>
            </a:r>
            <a:r>
              <a:rPr lang="en-US" altLang="zh-CN" sz="2400" b="1" dirty="0">
                <a:solidFill>
                  <a:schemeClr val="accent2">
                    <a:lumMod val="75000"/>
                  </a:schemeClr>
                </a:solidFill>
              </a:rPr>
              <a:t> prompt design</a:t>
            </a:r>
            <a:r>
              <a:rPr lang="en-US" altLang="zh-CN" sz="2400" dirty="0">
                <a:solidFill>
                  <a:schemeClr val="accent2">
                    <a:lumMod val="75000"/>
                  </a:schemeClr>
                </a:solidFill>
              </a:rPr>
              <a:t>. </a:t>
            </a:r>
          </a:p>
          <a:p>
            <a:pPr algn="l"/>
            <a:endParaRPr lang="en-US" altLang="zh-CN" sz="2400" dirty="0">
              <a:solidFill>
                <a:schemeClr val="accent2">
                  <a:lumMod val="75000"/>
                </a:schemeClr>
              </a:solidFill>
            </a:endParaRPr>
          </a:p>
          <a:p>
            <a:pPr algn="l"/>
            <a:r>
              <a:rPr lang="en-US" altLang="zh-CN" sz="2400" dirty="0">
                <a:solidFill>
                  <a:schemeClr val="accent2">
                    <a:lumMod val="75000"/>
                  </a:schemeClr>
                </a:solidFill>
              </a:rPr>
              <a:t>The team selected </a:t>
            </a:r>
            <a:r>
              <a:rPr lang="en-US" altLang="zh-CN" sz="2400" b="1" dirty="0">
                <a:solidFill>
                  <a:schemeClr val="accent2">
                    <a:lumMod val="75000"/>
                  </a:schemeClr>
                </a:solidFill>
              </a:rPr>
              <a:t>Qwen2-72B</a:t>
            </a:r>
            <a:r>
              <a:rPr lang="en-US" altLang="zh-CN" sz="2400" dirty="0">
                <a:solidFill>
                  <a:schemeClr val="accent2">
                    <a:lumMod val="75000"/>
                  </a:schemeClr>
                </a:solidFill>
              </a:rPr>
              <a:t> as the base model and used </a:t>
            </a:r>
            <a:r>
              <a:rPr lang="en-US" altLang="zh-CN" sz="2400" b="1" dirty="0">
                <a:solidFill>
                  <a:schemeClr val="accent2">
                    <a:lumMod val="75000"/>
                  </a:schemeClr>
                </a:solidFill>
              </a:rPr>
              <a:t>AWQ quantization </a:t>
            </a:r>
            <a:r>
              <a:rPr lang="en-US" altLang="zh-CN" sz="2400" dirty="0">
                <a:solidFill>
                  <a:schemeClr val="accent2">
                    <a:lumMod val="75000"/>
                  </a:schemeClr>
                </a:solidFill>
              </a:rPr>
              <a:t>to meet hardware constraints. They also employed various prompt design techniques, including </a:t>
            </a:r>
            <a:r>
              <a:rPr lang="en-US" altLang="zh-CN" sz="2400" b="1" dirty="0">
                <a:solidFill>
                  <a:schemeClr val="accent2">
                    <a:lumMod val="75000"/>
                  </a:schemeClr>
                </a:solidFill>
              </a:rPr>
              <a:t>instruction design, exemplar selection, and hyperparameter tuning</a:t>
            </a:r>
            <a:r>
              <a:rPr lang="en-US" altLang="zh-CN" sz="2400" dirty="0">
                <a:solidFill>
                  <a:schemeClr val="accent2">
                    <a:lumMod val="75000"/>
                  </a:schemeClr>
                </a:solidFill>
              </a:rPr>
              <a:t>, to enhance model performance. </a:t>
            </a:r>
          </a:p>
          <a:p>
            <a:endParaRPr lang="zh-CN" altLang="en-US" sz="2400" dirty="0"/>
          </a:p>
        </p:txBody>
      </p:sp>
      <p:pic>
        <p:nvPicPr>
          <p:cNvPr id="8" name="图片 7">
            <a:extLst>
              <a:ext uri="{FF2B5EF4-FFF2-40B4-BE49-F238E27FC236}">
                <a16:creationId xmlns:a16="http://schemas.microsoft.com/office/drawing/2014/main" id="{D480C2F1-2396-CFAC-D0BC-EF3C72CE79E5}"/>
              </a:ext>
            </a:extLst>
          </p:cNvPr>
          <p:cNvPicPr>
            <a:picLocks noChangeAspect="1"/>
          </p:cNvPicPr>
          <p:nvPr/>
        </p:nvPicPr>
        <p:blipFill>
          <a:blip r:embed="rId2"/>
          <a:stretch>
            <a:fillRect/>
          </a:stretch>
        </p:blipFill>
        <p:spPr>
          <a:xfrm>
            <a:off x="8006789" y="2529243"/>
            <a:ext cx="4185211" cy="3214707"/>
          </a:xfrm>
          <a:prstGeom prst="rect">
            <a:avLst/>
          </a:prstGeom>
        </p:spPr>
      </p:pic>
    </p:spTree>
    <p:extLst>
      <p:ext uri="{BB962C8B-B14F-4D97-AF65-F5344CB8AC3E}">
        <p14:creationId xmlns:p14="http://schemas.microsoft.com/office/powerpoint/2010/main" val="2538430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FD843-2F54-996E-B8B9-4C4AB9162D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2DA3B55-0441-F58A-5B92-155B94C2B500}"/>
              </a:ext>
            </a:extLst>
          </p:cNvPr>
          <p:cNvSpPr>
            <a:spLocks noGrp="1"/>
          </p:cNvSpPr>
          <p:nvPr>
            <p:ph type="title"/>
          </p:nvPr>
        </p:nvSpPr>
        <p:spPr/>
        <p:txBody>
          <a:bodyPr>
            <a:normAutofit fontScale="90000"/>
          </a:bodyPr>
          <a:lstStyle/>
          <a:p>
            <a:r>
              <a:rPr lang="en-US" altLang="zh-CN" dirty="0"/>
              <a:t>Prompt Design: Instruction Design</a:t>
            </a:r>
            <a:endParaRPr lang="zh-CN" altLang="en-US" dirty="0"/>
          </a:p>
        </p:txBody>
      </p:sp>
      <p:pic>
        <p:nvPicPr>
          <p:cNvPr id="8" name="图片 7">
            <a:extLst>
              <a:ext uri="{FF2B5EF4-FFF2-40B4-BE49-F238E27FC236}">
                <a16:creationId xmlns:a16="http://schemas.microsoft.com/office/drawing/2014/main" id="{AB16AAFA-17DA-49CA-1B33-6DF439C99E23}"/>
              </a:ext>
            </a:extLst>
          </p:cNvPr>
          <p:cNvPicPr>
            <a:picLocks noChangeAspect="1"/>
          </p:cNvPicPr>
          <p:nvPr/>
        </p:nvPicPr>
        <p:blipFill>
          <a:blip r:embed="rId2"/>
          <a:stretch>
            <a:fillRect/>
          </a:stretch>
        </p:blipFill>
        <p:spPr>
          <a:xfrm>
            <a:off x="7767439" y="1096824"/>
            <a:ext cx="3906401" cy="3011665"/>
          </a:xfrm>
          <a:prstGeom prst="rect">
            <a:avLst/>
          </a:prstGeom>
        </p:spPr>
      </p:pic>
      <p:sp>
        <p:nvSpPr>
          <p:cNvPr id="6" name="文本框 5">
            <a:extLst>
              <a:ext uri="{FF2B5EF4-FFF2-40B4-BE49-F238E27FC236}">
                <a16:creationId xmlns:a16="http://schemas.microsoft.com/office/drawing/2014/main" id="{7DEEE266-3F04-316D-3798-69B6D7C47CC1}"/>
              </a:ext>
            </a:extLst>
          </p:cNvPr>
          <p:cNvSpPr txBox="1"/>
          <p:nvPr/>
        </p:nvSpPr>
        <p:spPr>
          <a:xfrm>
            <a:off x="239350" y="1370688"/>
            <a:ext cx="7101369" cy="3416320"/>
          </a:xfrm>
          <a:prstGeom prst="rect">
            <a:avLst/>
          </a:prstGeom>
          <a:noFill/>
        </p:spPr>
        <p:txBody>
          <a:bodyPr wrap="square" rtlCol="0">
            <a:spAutoFit/>
          </a:bodyPr>
          <a:lstStyle/>
          <a:p>
            <a:r>
              <a:rPr lang="en-US" altLang="zh-CN" sz="2400" dirty="0">
                <a:solidFill>
                  <a:schemeClr val="accent2">
                    <a:lumMod val="75000"/>
                  </a:schemeClr>
                </a:solidFill>
              </a:rPr>
              <a:t>Few-shot in-context learning proves effective under resource constraints (limited training samples/computation). </a:t>
            </a:r>
          </a:p>
          <a:p>
            <a:endParaRPr lang="en-US" altLang="zh-CN" sz="2400" dirty="0">
              <a:solidFill>
                <a:schemeClr val="accent2">
                  <a:lumMod val="75000"/>
                </a:schemeClr>
              </a:solidFill>
            </a:endParaRPr>
          </a:p>
          <a:p>
            <a:r>
              <a:rPr lang="en-US" altLang="zh-CN" sz="2400" dirty="0">
                <a:solidFill>
                  <a:schemeClr val="accent2">
                    <a:lumMod val="75000"/>
                  </a:schemeClr>
                </a:solidFill>
              </a:rPr>
              <a:t>Our prompts combine task instructions and exemplars, often embedding practical "tips" (see Figure 2). </a:t>
            </a:r>
          </a:p>
          <a:p>
            <a:r>
              <a:rPr lang="en-US" altLang="zh-CN" sz="2400" dirty="0">
                <a:solidFill>
                  <a:schemeClr val="accent2">
                    <a:lumMod val="75000"/>
                  </a:schemeClr>
                </a:solidFill>
              </a:rPr>
              <a:t>While improvement scales vary, experiments confirm these tips consistently enhance LLM performance across tasks.</a:t>
            </a:r>
            <a:endParaRPr lang="zh-CN" altLang="en-US" sz="2400" dirty="0">
              <a:solidFill>
                <a:schemeClr val="accent2">
                  <a:lumMod val="75000"/>
                </a:schemeClr>
              </a:solidFill>
            </a:endParaRPr>
          </a:p>
        </p:txBody>
      </p:sp>
      <p:pic>
        <p:nvPicPr>
          <p:cNvPr id="9" name="图片 8">
            <a:extLst>
              <a:ext uri="{FF2B5EF4-FFF2-40B4-BE49-F238E27FC236}">
                <a16:creationId xmlns:a16="http://schemas.microsoft.com/office/drawing/2014/main" id="{28D71FE7-8154-DDB2-E764-440957B2D21F}"/>
              </a:ext>
            </a:extLst>
          </p:cNvPr>
          <p:cNvPicPr>
            <a:picLocks noChangeAspect="1"/>
          </p:cNvPicPr>
          <p:nvPr/>
        </p:nvPicPr>
        <p:blipFill>
          <a:blip r:embed="rId3"/>
          <a:stretch>
            <a:fillRect/>
          </a:stretch>
        </p:blipFill>
        <p:spPr>
          <a:xfrm>
            <a:off x="7643021" y="4108489"/>
            <a:ext cx="4264499" cy="2442829"/>
          </a:xfrm>
          <a:prstGeom prst="rect">
            <a:avLst/>
          </a:prstGeom>
        </p:spPr>
      </p:pic>
    </p:spTree>
    <p:extLst>
      <p:ext uri="{BB962C8B-B14F-4D97-AF65-F5344CB8AC3E}">
        <p14:creationId xmlns:p14="http://schemas.microsoft.com/office/powerpoint/2010/main" val="3622420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0471D-656C-26F2-57F6-F060CA81BC4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89A549D-0703-51AF-180D-4672618A42A4}"/>
              </a:ext>
            </a:extLst>
          </p:cNvPr>
          <p:cNvSpPr>
            <a:spLocks noGrp="1"/>
          </p:cNvSpPr>
          <p:nvPr>
            <p:ph type="title"/>
          </p:nvPr>
        </p:nvSpPr>
        <p:spPr/>
        <p:txBody>
          <a:bodyPr>
            <a:normAutofit fontScale="90000"/>
          </a:bodyPr>
          <a:lstStyle/>
          <a:p>
            <a:r>
              <a:rPr lang="en-US" altLang="zh-CN" dirty="0"/>
              <a:t>Prompt Design :Exemplar Selection</a:t>
            </a:r>
            <a:endParaRPr lang="zh-CN" altLang="en-US" dirty="0"/>
          </a:p>
        </p:txBody>
      </p:sp>
      <p:pic>
        <p:nvPicPr>
          <p:cNvPr id="8" name="图片 7">
            <a:extLst>
              <a:ext uri="{FF2B5EF4-FFF2-40B4-BE49-F238E27FC236}">
                <a16:creationId xmlns:a16="http://schemas.microsoft.com/office/drawing/2014/main" id="{3751A95C-CE00-0D16-CEAB-D9C6CDA09439}"/>
              </a:ext>
            </a:extLst>
          </p:cNvPr>
          <p:cNvPicPr>
            <a:picLocks noChangeAspect="1"/>
          </p:cNvPicPr>
          <p:nvPr/>
        </p:nvPicPr>
        <p:blipFill>
          <a:blip r:embed="rId2"/>
          <a:srcRect l="54262" b="15596"/>
          <a:stretch/>
        </p:blipFill>
        <p:spPr>
          <a:xfrm>
            <a:off x="9975257" y="3248546"/>
            <a:ext cx="2216743" cy="3142094"/>
          </a:xfrm>
          <a:prstGeom prst="rect">
            <a:avLst/>
          </a:prstGeom>
        </p:spPr>
      </p:pic>
      <p:sp>
        <p:nvSpPr>
          <p:cNvPr id="6" name="文本框 5">
            <a:extLst>
              <a:ext uri="{FF2B5EF4-FFF2-40B4-BE49-F238E27FC236}">
                <a16:creationId xmlns:a16="http://schemas.microsoft.com/office/drawing/2014/main" id="{8929BB97-1F83-0CA8-6A1E-4E907006DBCE}"/>
              </a:ext>
            </a:extLst>
          </p:cNvPr>
          <p:cNvSpPr txBox="1"/>
          <p:nvPr/>
        </p:nvSpPr>
        <p:spPr>
          <a:xfrm>
            <a:off x="239350" y="1107351"/>
            <a:ext cx="9829210" cy="5816977"/>
          </a:xfrm>
          <a:prstGeom prst="rect">
            <a:avLst/>
          </a:prstGeom>
          <a:noFill/>
        </p:spPr>
        <p:txBody>
          <a:bodyPr wrap="square" rtlCol="0">
            <a:spAutoFit/>
          </a:bodyPr>
          <a:lstStyle/>
          <a:p>
            <a:r>
              <a:rPr lang="en-US" altLang="zh-CN" sz="2400" b="1" dirty="0">
                <a:solidFill>
                  <a:schemeClr val="accent2">
                    <a:lumMod val="75000"/>
                  </a:schemeClr>
                </a:solidFill>
              </a:rPr>
              <a:t>Sub-task Division</a:t>
            </a:r>
          </a:p>
          <a:p>
            <a:pPr marL="342900" indent="-342900">
              <a:buFont typeface="Arial" panose="020B0604020202020204" pitchFamily="34" charset="0"/>
              <a:buChar char="•"/>
            </a:pPr>
            <a:r>
              <a:rPr lang="en-US" altLang="zh-CN" sz="2000" dirty="0">
                <a:solidFill>
                  <a:schemeClr val="accent2">
                    <a:lumMod val="75000"/>
                  </a:schemeClr>
                </a:solidFill>
              </a:rPr>
              <a:t>Selecting appropriate samples for different tasks is crucial in few-shot learning. Dividing tasks into sub-tasks (e.g., generation, multiple selection, retrieval) and providing subtask-specific exemplars during inference. Identified fixed patterns (i.e., commonly used words or strings) in the provided training samples to classify different subtasks and designed exemplars accordingly.</a:t>
            </a:r>
          </a:p>
          <a:p>
            <a:endParaRPr lang="en-US" altLang="zh-CN" sz="2000" dirty="0">
              <a:solidFill>
                <a:schemeClr val="accent2">
                  <a:lumMod val="75000"/>
                </a:schemeClr>
              </a:solidFill>
            </a:endParaRPr>
          </a:p>
          <a:p>
            <a:r>
              <a:rPr lang="en-US" altLang="zh-CN" sz="2400" b="1" dirty="0">
                <a:solidFill>
                  <a:schemeClr val="accent2">
                    <a:lumMod val="75000"/>
                  </a:schemeClr>
                </a:solidFill>
              </a:rPr>
              <a:t>Fixed Exemplars</a:t>
            </a:r>
          </a:p>
          <a:p>
            <a:pPr marL="342900" indent="-342900">
              <a:buFont typeface="Arial" panose="020B0604020202020204" pitchFamily="34" charset="0"/>
              <a:buChar char="•"/>
            </a:pPr>
            <a:r>
              <a:rPr lang="en-US" altLang="zh-CN" sz="2000" dirty="0">
                <a:solidFill>
                  <a:schemeClr val="accent2">
                    <a:lumMod val="75000"/>
                  </a:schemeClr>
                </a:solidFill>
              </a:rPr>
              <a:t>We initially selected fixed exemplars from related subtask categories, but found they weren't always optimal. Experiments showed diverse exemplars across subtasks improved performance, particularly for retrieval/generation tasks, likely due to enhanced generalization from varied contexts.</a:t>
            </a:r>
          </a:p>
          <a:p>
            <a:endParaRPr lang="en-US" altLang="zh-CN" sz="2000" b="1" dirty="0">
              <a:solidFill>
                <a:schemeClr val="accent2">
                  <a:lumMod val="75000"/>
                </a:schemeClr>
              </a:solidFill>
            </a:endParaRPr>
          </a:p>
          <a:p>
            <a:r>
              <a:rPr lang="en-US" altLang="zh-CN" sz="2400" b="1" dirty="0">
                <a:solidFill>
                  <a:schemeClr val="accent2">
                    <a:lumMod val="75000"/>
                  </a:schemeClr>
                </a:solidFill>
              </a:rPr>
              <a:t>Dynamic Exemplars</a:t>
            </a:r>
          </a:p>
          <a:p>
            <a:pPr marL="342900" indent="-342900">
              <a:buFont typeface="Arial" panose="020B0604020202020204" pitchFamily="34" charset="0"/>
              <a:buChar char="•"/>
            </a:pPr>
            <a:r>
              <a:rPr lang="en-US" altLang="zh-CN" sz="2000" dirty="0">
                <a:solidFill>
                  <a:schemeClr val="accent2">
                    <a:lumMod val="75000"/>
                  </a:schemeClr>
                </a:solidFill>
              </a:rPr>
              <a:t>Propose dynamic exemplar sampling to replace fixed prompts, adapting examples based on batch-specific problem distributions. By storing and reusing initial instances across batches , this method effectively enhances multi-choice question performance.</a:t>
            </a:r>
          </a:p>
          <a:p>
            <a:endParaRPr lang="en-US" altLang="zh-CN" sz="2000" dirty="0">
              <a:solidFill>
                <a:schemeClr val="accent2">
                  <a:lumMod val="75000"/>
                </a:schemeClr>
              </a:solidFill>
            </a:endParaRPr>
          </a:p>
        </p:txBody>
      </p:sp>
    </p:spTree>
    <p:extLst>
      <p:ext uri="{BB962C8B-B14F-4D97-AF65-F5344CB8AC3E}">
        <p14:creationId xmlns:p14="http://schemas.microsoft.com/office/powerpoint/2010/main" val="28990300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6C6679F2-F7B5-4367-892D-8626BBE8D23E}"/>
              </a:ext>
            </a:extLst>
          </p:cNvPr>
          <p:cNvGrpSpPr/>
          <p:nvPr/>
        </p:nvGrpSpPr>
        <p:grpSpPr>
          <a:xfrm>
            <a:off x="362718" y="1206360"/>
            <a:ext cx="5392294" cy="5009505"/>
            <a:chOff x="464056" y="1458973"/>
            <a:chExt cx="5294890" cy="5005327"/>
          </a:xfrm>
        </p:grpSpPr>
        <p:sp>
          <p:nvSpPr>
            <p:cNvPr id="3" name="等腰三角形 2">
              <a:extLst>
                <a:ext uri="{FF2B5EF4-FFF2-40B4-BE49-F238E27FC236}">
                  <a16:creationId xmlns:a16="http://schemas.microsoft.com/office/drawing/2014/main" id="{56624929-EF87-4A85-8013-F18415290AA9}"/>
                </a:ext>
              </a:extLst>
            </p:cNvPr>
            <p:cNvSpPr/>
            <p:nvPr/>
          </p:nvSpPr>
          <p:spPr>
            <a:xfrm>
              <a:off x="464056" y="1522686"/>
              <a:ext cx="5294890" cy="4941614"/>
            </a:xfrm>
            <a:prstGeom prst="triangle">
              <a:avLst/>
            </a:prstGeom>
            <a:solidFill>
              <a:schemeClr val="accent2">
                <a:lumMod val="60000"/>
                <a:lumOff val="40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a:extLst>
                <a:ext uri="{FF2B5EF4-FFF2-40B4-BE49-F238E27FC236}">
                  <a16:creationId xmlns:a16="http://schemas.microsoft.com/office/drawing/2014/main" id="{839D95E5-4DED-4E29-911F-8DD7FB45678D}"/>
                </a:ext>
              </a:extLst>
            </p:cNvPr>
            <p:cNvGrpSpPr/>
            <p:nvPr/>
          </p:nvGrpSpPr>
          <p:grpSpPr>
            <a:xfrm>
              <a:off x="464056" y="1458973"/>
              <a:ext cx="5294890" cy="5005327"/>
              <a:chOff x="7349873" y="2362200"/>
              <a:chExt cx="3251200" cy="3073401"/>
            </a:xfrm>
          </p:grpSpPr>
          <p:sp>
            <p:nvSpPr>
              <p:cNvPr id="5" name="任意多边形 38">
                <a:extLst>
                  <a:ext uri="{FF2B5EF4-FFF2-40B4-BE49-F238E27FC236}">
                    <a16:creationId xmlns:a16="http://schemas.microsoft.com/office/drawing/2014/main" id="{2C2C15B9-9411-42E9-BD28-4C31E3FBD2A6}"/>
                  </a:ext>
                </a:extLst>
              </p:cNvPr>
              <p:cNvSpPr/>
              <p:nvPr/>
            </p:nvSpPr>
            <p:spPr>
              <a:xfrm>
                <a:off x="7349873" y="2362200"/>
                <a:ext cx="2126550" cy="3073400"/>
              </a:xfrm>
              <a:custGeom>
                <a:avLst/>
                <a:gdLst>
                  <a:gd name="connsiteX0" fmla="*/ 1625600 w 2126550"/>
                  <a:gd name="connsiteY0" fmla="*/ 0 h 3073400"/>
                  <a:gd name="connsiteX1" fmla="*/ 2126550 w 2126550"/>
                  <a:gd name="connsiteY1" fmla="*/ 947108 h 3073400"/>
                  <a:gd name="connsiteX2" fmla="*/ 770556 w 2126550"/>
                  <a:gd name="connsiteY2" fmla="*/ 3073400 h 3073400"/>
                  <a:gd name="connsiteX3" fmla="*/ 0 w 2126550"/>
                  <a:gd name="connsiteY3" fmla="*/ 3073400 h 3073400"/>
                </a:gdLst>
                <a:ahLst/>
                <a:cxnLst>
                  <a:cxn ang="0">
                    <a:pos x="connsiteX0" y="connsiteY0"/>
                  </a:cxn>
                  <a:cxn ang="0">
                    <a:pos x="connsiteX1" y="connsiteY1"/>
                  </a:cxn>
                  <a:cxn ang="0">
                    <a:pos x="connsiteX2" y="connsiteY2"/>
                  </a:cxn>
                  <a:cxn ang="0">
                    <a:pos x="connsiteX3" y="connsiteY3"/>
                  </a:cxn>
                </a:cxnLst>
                <a:rect l="l" t="t" r="r" b="b"/>
                <a:pathLst>
                  <a:path w="2126550" h="3073400">
                    <a:moveTo>
                      <a:pt x="1625600" y="0"/>
                    </a:moveTo>
                    <a:lnTo>
                      <a:pt x="2126550" y="947108"/>
                    </a:lnTo>
                    <a:lnTo>
                      <a:pt x="770556" y="3073400"/>
                    </a:lnTo>
                    <a:lnTo>
                      <a:pt x="0" y="3073400"/>
                    </a:lnTo>
                    <a:close/>
                  </a:path>
                </a:pathLst>
              </a:custGeom>
              <a:solidFill>
                <a:schemeClr val="accent2">
                  <a:lumMod val="75000"/>
                  <a:alpha val="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sp>
            <p:nvSpPr>
              <p:cNvPr id="6" name="任意多边形 39">
                <a:extLst>
                  <a:ext uri="{FF2B5EF4-FFF2-40B4-BE49-F238E27FC236}">
                    <a16:creationId xmlns:a16="http://schemas.microsoft.com/office/drawing/2014/main" id="{E9809FF5-560D-4C65-91C2-B46E6FA090AE}"/>
                  </a:ext>
                </a:extLst>
              </p:cNvPr>
              <p:cNvSpPr/>
              <p:nvPr/>
            </p:nvSpPr>
            <p:spPr>
              <a:xfrm>
                <a:off x="7349874" y="3233232"/>
                <a:ext cx="2044923" cy="2202369"/>
              </a:xfrm>
              <a:custGeom>
                <a:avLst/>
                <a:gdLst>
                  <a:gd name="connsiteX0" fmla="*/ 1164890 w 2044923"/>
                  <a:gd name="connsiteY0" fmla="*/ 0 h 2202369"/>
                  <a:gd name="connsiteX1" fmla="*/ 2044923 w 2044923"/>
                  <a:gd name="connsiteY1" fmla="*/ 2202369 h 2202369"/>
                  <a:gd name="connsiteX2" fmla="*/ 0 w 2044923"/>
                  <a:gd name="connsiteY2" fmla="*/ 2202369 h 2202369"/>
                </a:gdLst>
                <a:ahLst/>
                <a:cxnLst>
                  <a:cxn ang="0">
                    <a:pos x="connsiteX0" y="connsiteY0"/>
                  </a:cxn>
                  <a:cxn ang="0">
                    <a:pos x="connsiteX1" y="connsiteY1"/>
                  </a:cxn>
                  <a:cxn ang="0">
                    <a:pos x="connsiteX2" y="connsiteY2"/>
                  </a:cxn>
                </a:cxnLst>
                <a:rect l="l" t="t" r="r" b="b"/>
                <a:pathLst>
                  <a:path w="2044923" h="2202369">
                    <a:moveTo>
                      <a:pt x="1164890" y="0"/>
                    </a:moveTo>
                    <a:lnTo>
                      <a:pt x="2044923" y="2202369"/>
                    </a:lnTo>
                    <a:lnTo>
                      <a:pt x="0" y="2202369"/>
                    </a:lnTo>
                    <a:close/>
                  </a:path>
                </a:pathLst>
              </a:custGeom>
              <a:solidFill>
                <a:schemeClr val="bg1">
                  <a:alpha val="4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sp>
            <p:nvSpPr>
              <p:cNvPr id="7" name="任意多边形 40">
                <a:extLst>
                  <a:ext uri="{FF2B5EF4-FFF2-40B4-BE49-F238E27FC236}">
                    <a16:creationId xmlns:a16="http://schemas.microsoft.com/office/drawing/2014/main" id="{1126F89B-4588-4BFD-9287-3F0D13C1546C}"/>
                  </a:ext>
                </a:extLst>
              </p:cNvPr>
              <p:cNvSpPr/>
              <p:nvPr/>
            </p:nvSpPr>
            <p:spPr>
              <a:xfrm>
                <a:off x="7349873" y="3852152"/>
                <a:ext cx="2705418" cy="1583448"/>
              </a:xfrm>
              <a:custGeom>
                <a:avLst/>
                <a:gdLst>
                  <a:gd name="connsiteX0" fmla="*/ 837526 w 2705418"/>
                  <a:gd name="connsiteY0" fmla="*/ 0 h 1583448"/>
                  <a:gd name="connsiteX1" fmla="*/ 2705418 w 2705418"/>
                  <a:gd name="connsiteY1" fmla="*/ 1583448 h 1583448"/>
                  <a:gd name="connsiteX2" fmla="*/ 0 w 2705418"/>
                  <a:gd name="connsiteY2" fmla="*/ 1583448 h 1583448"/>
                </a:gdLst>
                <a:ahLst/>
                <a:cxnLst>
                  <a:cxn ang="0">
                    <a:pos x="connsiteX0" y="connsiteY0"/>
                  </a:cxn>
                  <a:cxn ang="0">
                    <a:pos x="connsiteX1" y="connsiteY1"/>
                  </a:cxn>
                  <a:cxn ang="0">
                    <a:pos x="connsiteX2" y="connsiteY2"/>
                  </a:cxn>
                </a:cxnLst>
                <a:rect l="l" t="t" r="r" b="b"/>
                <a:pathLst>
                  <a:path w="2705418" h="1583448">
                    <a:moveTo>
                      <a:pt x="837526" y="0"/>
                    </a:moveTo>
                    <a:lnTo>
                      <a:pt x="2705418" y="1583448"/>
                    </a:lnTo>
                    <a:lnTo>
                      <a:pt x="0" y="1583448"/>
                    </a:lnTo>
                    <a:close/>
                  </a:path>
                </a:pathLst>
              </a:custGeom>
              <a:solidFill>
                <a:schemeClr val="bg1">
                  <a:alpha val="3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sp>
            <p:nvSpPr>
              <p:cNvPr id="8" name="任意多边形 41">
                <a:extLst>
                  <a:ext uri="{FF2B5EF4-FFF2-40B4-BE49-F238E27FC236}">
                    <a16:creationId xmlns:a16="http://schemas.microsoft.com/office/drawing/2014/main" id="{42171405-A0DC-418E-9194-CBAF47F4842F}"/>
                  </a:ext>
                </a:extLst>
              </p:cNvPr>
              <p:cNvSpPr/>
              <p:nvPr/>
            </p:nvSpPr>
            <p:spPr>
              <a:xfrm>
                <a:off x="9263145" y="4352550"/>
                <a:ext cx="1337928" cy="1083050"/>
              </a:xfrm>
              <a:custGeom>
                <a:avLst/>
                <a:gdLst>
                  <a:gd name="connsiteX0" fmla="*/ 765075 w 1337928"/>
                  <a:gd name="connsiteY0" fmla="*/ 0 h 1083050"/>
                  <a:gd name="connsiteX1" fmla="*/ 1337928 w 1337928"/>
                  <a:gd name="connsiteY1" fmla="*/ 1083050 h 1083050"/>
                  <a:gd name="connsiteX2" fmla="*/ 0 w 1337928"/>
                  <a:gd name="connsiteY2" fmla="*/ 1083050 h 1083050"/>
                </a:gdLst>
                <a:ahLst/>
                <a:cxnLst>
                  <a:cxn ang="0">
                    <a:pos x="connsiteX0" y="connsiteY0"/>
                  </a:cxn>
                  <a:cxn ang="0">
                    <a:pos x="connsiteX1" y="connsiteY1"/>
                  </a:cxn>
                  <a:cxn ang="0">
                    <a:pos x="connsiteX2" y="connsiteY2"/>
                  </a:cxn>
                </a:cxnLst>
                <a:rect l="l" t="t" r="r" b="b"/>
                <a:pathLst>
                  <a:path w="1337928" h="1083050">
                    <a:moveTo>
                      <a:pt x="765075" y="0"/>
                    </a:moveTo>
                    <a:lnTo>
                      <a:pt x="1337928" y="1083050"/>
                    </a:lnTo>
                    <a:lnTo>
                      <a:pt x="0" y="1083050"/>
                    </a:lnTo>
                    <a:close/>
                  </a:path>
                </a:pathLst>
              </a:cu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endParaRPr lang="zh-CN" altLang="en-US"/>
              </a:p>
            </p:txBody>
          </p:sp>
        </p:grpSp>
      </p:grpSp>
      <p:sp>
        <p:nvSpPr>
          <p:cNvPr id="18" name="矩形 17"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7344A645-35AE-4EED-A889-3EB31D24F9CA}"/>
              </a:ext>
            </a:extLst>
          </p:cNvPr>
          <p:cNvSpPr/>
          <p:nvPr/>
        </p:nvSpPr>
        <p:spPr>
          <a:xfrm>
            <a:off x="3690059" y="2002627"/>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2. Robust, Memory-Efficient Initialization</a:t>
            </a:r>
            <a:endParaRPr lang="zh-CN" altLang="en-US" sz="2000" b="1" dirty="0"/>
          </a:p>
        </p:txBody>
      </p:sp>
      <p:sp>
        <p:nvSpPr>
          <p:cNvPr id="26" name="矩形 25"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2653F96E-666F-2EF8-1927-EFCD84C40DF9}"/>
              </a:ext>
            </a:extLst>
          </p:cNvPr>
          <p:cNvSpPr/>
          <p:nvPr/>
        </p:nvSpPr>
        <p:spPr>
          <a:xfrm>
            <a:off x="3690059" y="2748186"/>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3. Task-Aware Prompt Design</a:t>
            </a:r>
            <a:endParaRPr lang="zh-CN" altLang="en-US" sz="2000" b="1" dirty="0"/>
          </a:p>
        </p:txBody>
      </p:sp>
      <p:sp>
        <p:nvSpPr>
          <p:cNvPr id="27" name="矩形 26"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35952365-C206-5CC5-EB53-21EA2644DB94}"/>
              </a:ext>
            </a:extLst>
          </p:cNvPr>
          <p:cNvSpPr/>
          <p:nvPr/>
        </p:nvSpPr>
        <p:spPr>
          <a:xfrm>
            <a:off x="3690059" y="3493745"/>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4. Deterministic, Controlled Decoding</a:t>
            </a:r>
            <a:endParaRPr lang="zh-CN" altLang="en-US" sz="2000" b="1" dirty="0"/>
          </a:p>
        </p:txBody>
      </p:sp>
      <p:sp>
        <p:nvSpPr>
          <p:cNvPr id="28" name="矩形 27"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BD97BC82-0739-9C71-84EB-17411889B143}"/>
              </a:ext>
            </a:extLst>
          </p:cNvPr>
          <p:cNvSpPr/>
          <p:nvPr/>
        </p:nvSpPr>
        <p:spPr>
          <a:xfrm>
            <a:off x="3690059" y="4216062"/>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5. Prefix Caching for High Throughput</a:t>
            </a:r>
            <a:endParaRPr lang="zh-CN" altLang="en-US" sz="2000" b="1" dirty="0"/>
          </a:p>
        </p:txBody>
      </p:sp>
      <p:sp>
        <p:nvSpPr>
          <p:cNvPr id="29" name="矩形 28"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6E09B99F-B91A-F280-5211-696847E1EEDE}"/>
              </a:ext>
            </a:extLst>
          </p:cNvPr>
          <p:cNvSpPr/>
          <p:nvPr/>
        </p:nvSpPr>
        <p:spPr>
          <a:xfrm>
            <a:off x="3690059" y="4962840"/>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6. Modular, Extensible Architecture</a:t>
            </a:r>
            <a:endParaRPr lang="zh-CN" altLang="en-US" sz="2000" b="1" dirty="0"/>
          </a:p>
        </p:txBody>
      </p:sp>
      <p:sp>
        <p:nvSpPr>
          <p:cNvPr id="30" name="矩形 29"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169166B4-0F89-70B6-32CD-F12D60D6B4EB}"/>
              </a:ext>
            </a:extLst>
          </p:cNvPr>
          <p:cNvSpPr/>
          <p:nvPr/>
        </p:nvSpPr>
        <p:spPr>
          <a:xfrm>
            <a:off x="3690059" y="5680032"/>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7. End-to-End Output Reliability</a:t>
            </a:r>
            <a:endParaRPr lang="zh-CN" altLang="en-US" sz="2000" b="1" dirty="0"/>
          </a:p>
        </p:txBody>
      </p:sp>
      <p:sp>
        <p:nvSpPr>
          <p:cNvPr id="31" name="矩形 30" descr="e7d195523061f1c0d3ba7f298e59d031c9c3f97027ed136f882110EF8F17BAD1F2C348D17C7856EF46CB4678CC9E44EE1ABA681E3133328A7B4D22AAF822B2429426B2355AA8CC4431B8568D2CF3B73A96BBEC1D6ED9A296B43765507A3E7CF5D1CA7E8172631B7DC4BDD6EDD9C905DDE509891D9B10512B757EAF468629A66A40406F5054747F5B">
            <a:extLst>
              <a:ext uri="{FF2B5EF4-FFF2-40B4-BE49-F238E27FC236}">
                <a16:creationId xmlns:a16="http://schemas.microsoft.com/office/drawing/2014/main" id="{8E9C589D-2303-08A5-D066-08F4931C7CE6}"/>
              </a:ext>
            </a:extLst>
          </p:cNvPr>
          <p:cNvSpPr/>
          <p:nvPr/>
        </p:nvSpPr>
        <p:spPr>
          <a:xfrm>
            <a:off x="3690059" y="1271868"/>
            <a:ext cx="7201461" cy="4959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000" b="1" dirty="0"/>
              <a:t>1. Centralized, Reproducible Configuration</a:t>
            </a:r>
            <a:endParaRPr lang="zh-CN" altLang="en-US" sz="2000" b="1" dirty="0"/>
          </a:p>
        </p:txBody>
      </p:sp>
      <p:sp>
        <p:nvSpPr>
          <p:cNvPr id="33" name="文本框 32">
            <a:extLst>
              <a:ext uri="{FF2B5EF4-FFF2-40B4-BE49-F238E27FC236}">
                <a16:creationId xmlns:a16="http://schemas.microsoft.com/office/drawing/2014/main" id="{990C2E7A-B218-DA8E-587F-1026CAF8B69A}"/>
              </a:ext>
            </a:extLst>
          </p:cNvPr>
          <p:cNvSpPr txBox="1"/>
          <p:nvPr/>
        </p:nvSpPr>
        <p:spPr>
          <a:xfrm>
            <a:off x="240798" y="389600"/>
            <a:ext cx="6096000" cy="584775"/>
          </a:xfrm>
          <a:prstGeom prst="rect">
            <a:avLst/>
          </a:prstGeom>
          <a:noFill/>
        </p:spPr>
        <p:txBody>
          <a:bodyPr wrap="square">
            <a:spAutoFit/>
          </a:bodyPr>
          <a:lstStyle/>
          <a:p>
            <a:r>
              <a:rPr lang="en-US" altLang="zh-CN" sz="3200" dirty="0">
                <a:solidFill>
                  <a:schemeClr val="bg1"/>
                </a:solidFill>
              </a:rPr>
              <a:t>Advantages of Our Model</a:t>
            </a:r>
            <a:endParaRPr lang="zh-CN" altLang="en-US" sz="3200" dirty="0">
              <a:solidFill>
                <a:schemeClr val="bg1"/>
              </a:solidFill>
            </a:endParaRPr>
          </a:p>
        </p:txBody>
      </p:sp>
    </p:spTree>
    <p:extLst>
      <p:ext uri="{BB962C8B-B14F-4D97-AF65-F5344CB8AC3E}">
        <p14:creationId xmlns:p14="http://schemas.microsoft.com/office/powerpoint/2010/main" val="2527121055"/>
      </p:ext>
    </p:extLst>
  </p:cSld>
  <p:clrMapOvr>
    <a:masterClrMapping/>
  </p:clrMapOvr>
  <p:transition spd="slow" advClick="0">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40BC2-D272-B576-5F90-74CFB3EE8F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8B5E95-B24F-415E-FB06-A3C85DDCACEB}"/>
              </a:ext>
            </a:extLst>
          </p:cNvPr>
          <p:cNvSpPr>
            <a:spLocks noGrp="1"/>
          </p:cNvSpPr>
          <p:nvPr>
            <p:ph type="title"/>
          </p:nvPr>
        </p:nvSpPr>
        <p:spPr/>
        <p:txBody>
          <a:bodyPr>
            <a:normAutofit fontScale="90000"/>
          </a:bodyPr>
          <a:lstStyle/>
          <a:p>
            <a:r>
              <a:rPr lang="en-US" altLang="zh-CN" dirty="0"/>
              <a:t>Advantages of Our Model</a:t>
            </a:r>
            <a:endParaRPr lang="zh-CN" altLang="en-US" dirty="0"/>
          </a:p>
        </p:txBody>
      </p:sp>
      <p:sp>
        <p:nvSpPr>
          <p:cNvPr id="6" name="文本框 5">
            <a:extLst>
              <a:ext uri="{FF2B5EF4-FFF2-40B4-BE49-F238E27FC236}">
                <a16:creationId xmlns:a16="http://schemas.microsoft.com/office/drawing/2014/main" id="{E42FA3C5-EEAB-9F35-02A3-83E1F11D9140}"/>
              </a:ext>
            </a:extLst>
          </p:cNvPr>
          <p:cNvSpPr txBox="1"/>
          <p:nvPr/>
        </p:nvSpPr>
        <p:spPr>
          <a:xfrm>
            <a:off x="239350" y="1105027"/>
            <a:ext cx="11668170" cy="830997"/>
          </a:xfrm>
          <a:prstGeom prst="rect">
            <a:avLst/>
          </a:prstGeom>
          <a:noFill/>
        </p:spPr>
        <p:txBody>
          <a:bodyPr wrap="square" rtlCol="0">
            <a:spAutoFit/>
          </a:bodyPr>
          <a:lstStyle/>
          <a:p>
            <a:r>
              <a:rPr lang="en-US" altLang="zh-CN" sz="2400" b="1" dirty="0">
                <a:solidFill>
                  <a:schemeClr val="accent2">
                    <a:lumMod val="75000"/>
                  </a:schemeClr>
                </a:solidFill>
              </a:rPr>
              <a:t>Multiple-Choice Tasks </a:t>
            </a:r>
          </a:p>
          <a:p>
            <a:endParaRPr lang="en-US" altLang="zh-CN" sz="2400" b="1" dirty="0">
              <a:solidFill>
                <a:schemeClr val="accent2">
                  <a:lumMod val="75000"/>
                </a:schemeClr>
              </a:solidFill>
            </a:endParaRPr>
          </a:p>
        </p:txBody>
      </p:sp>
      <p:graphicFrame>
        <p:nvGraphicFramePr>
          <p:cNvPr id="3" name="表格 2">
            <a:extLst>
              <a:ext uri="{FF2B5EF4-FFF2-40B4-BE49-F238E27FC236}">
                <a16:creationId xmlns:a16="http://schemas.microsoft.com/office/drawing/2014/main" id="{3F7968C6-CF79-EEB8-A824-EFCA03FC3FA2}"/>
              </a:ext>
            </a:extLst>
          </p:cNvPr>
          <p:cNvGraphicFramePr>
            <a:graphicFrameLocks noGrp="1"/>
          </p:cNvGraphicFramePr>
          <p:nvPr>
            <p:extLst>
              <p:ext uri="{D42A27DB-BD31-4B8C-83A1-F6EECF244321}">
                <p14:modId xmlns:p14="http://schemas.microsoft.com/office/powerpoint/2010/main" val="4101742911"/>
              </p:ext>
            </p:extLst>
          </p:nvPr>
        </p:nvGraphicFramePr>
        <p:xfrm>
          <a:off x="284480" y="1660642"/>
          <a:ext cx="10962641" cy="1381760"/>
        </p:xfrm>
        <a:graphic>
          <a:graphicData uri="http://schemas.openxmlformats.org/drawingml/2006/table">
            <a:tbl>
              <a:tblPr firstRow="1" bandRow="1">
                <a:tableStyleId>{21E4AEA4-8DFA-4A89-87EB-49C32662AFE0}</a:tableStyleId>
              </a:tblPr>
              <a:tblGrid>
                <a:gridCol w="2740660">
                  <a:extLst>
                    <a:ext uri="{9D8B030D-6E8A-4147-A177-3AD203B41FA5}">
                      <a16:colId xmlns:a16="http://schemas.microsoft.com/office/drawing/2014/main" val="2169658981"/>
                    </a:ext>
                  </a:extLst>
                </a:gridCol>
                <a:gridCol w="2399411">
                  <a:extLst>
                    <a:ext uri="{9D8B030D-6E8A-4147-A177-3AD203B41FA5}">
                      <a16:colId xmlns:a16="http://schemas.microsoft.com/office/drawing/2014/main" val="523679973"/>
                    </a:ext>
                  </a:extLst>
                </a:gridCol>
                <a:gridCol w="1413129">
                  <a:extLst>
                    <a:ext uri="{9D8B030D-6E8A-4147-A177-3AD203B41FA5}">
                      <a16:colId xmlns:a16="http://schemas.microsoft.com/office/drawing/2014/main" val="611797342"/>
                    </a:ext>
                  </a:extLst>
                </a:gridCol>
                <a:gridCol w="4409441">
                  <a:extLst>
                    <a:ext uri="{9D8B030D-6E8A-4147-A177-3AD203B41FA5}">
                      <a16:colId xmlns:a16="http://schemas.microsoft.com/office/drawing/2014/main" val="4188740472"/>
                    </a:ext>
                  </a:extLst>
                </a:gridCol>
              </a:tblGrid>
              <a:tr h="370840">
                <a:tc>
                  <a:txBody>
                    <a:bodyPr/>
                    <a:lstStyle/>
                    <a:p>
                      <a:r>
                        <a:rPr lang="en-US" dirty="0"/>
                        <a:t>Task Type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altLang="zh-CN" dirty="0"/>
                        <a:t>Prompt Template</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altLang="zh-CN" dirty="0"/>
                        <a:t>Max Tokens</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r>
                        <a:rPr lang="en-US" altLang="zh-CN" dirty="0"/>
                        <a:t>Task Type</a:t>
                      </a:r>
                      <a:endParaRPr lang="zh-CN" alt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455685874"/>
                  </a:ext>
                </a:extLst>
              </a:tr>
              <a:tr h="370840">
                <a:tc>
                  <a:txBody>
                    <a:bodyPr/>
                    <a:lstStyle/>
                    <a:p>
                      <a:r>
                        <a:rPr lang="en-US" altLang="zh-CN" dirty="0"/>
                        <a:t>Multiple-Choice</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altLang="zh-CN" dirty="0" err="1"/>
                        <a:t>prompts_multi</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altLang="zh-CN" dirty="0"/>
                        <a:t>1</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r>
                        <a:rPr lang="en-US" altLang="zh-CN" dirty="0"/>
                        <a:t>Ultra-fast, single-index output</a:t>
                      </a:r>
                      <a:endParaRPr lang="zh-CN" altLang="en-US"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53185433"/>
                  </a:ext>
                </a:extLst>
              </a:tr>
              <a:tr h="370840">
                <a:tc>
                  <a:txBody>
                    <a:bodyPr/>
                    <a:lstStyle/>
                    <a:p>
                      <a:r>
                        <a:rPr lang="en-US" altLang="zh-CN" dirty="0"/>
                        <a:t>Open-Ended Generation</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dirty="0" err="1"/>
                        <a:t>exemplar_no_multi</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dirty="0"/>
                        <a:t>15</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US" altLang="zh-CN" dirty="0"/>
                        <a:t>Rich context via six illustrative examples, supports diverse tasks</a:t>
                      </a:r>
                      <a:endParaRPr lang="zh-CN" alt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95750362"/>
                  </a:ext>
                </a:extLst>
              </a:tr>
            </a:tbl>
          </a:graphicData>
        </a:graphic>
      </p:graphicFrame>
      <p:sp>
        <p:nvSpPr>
          <p:cNvPr id="8" name="文本框 7">
            <a:extLst>
              <a:ext uri="{FF2B5EF4-FFF2-40B4-BE49-F238E27FC236}">
                <a16:creationId xmlns:a16="http://schemas.microsoft.com/office/drawing/2014/main" id="{A7D6593C-D69A-3048-AC6D-87DDEAAE23CB}"/>
              </a:ext>
            </a:extLst>
          </p:cNvPr>
          <p:cNvSpPr txBox="1"/>
          <p:nvPr/>
        </p:nvSpPr>
        <p:spPr>
          <a:xfrm>
            <a:off x="239350" y="3042402"/>
            <a:ext cx="11464970" cy="3410934"/>
          </a:xfrm>
          <a:prstGeom prst="rect">
            <a:avLst/>
          </a:prstGeom>
          <a:noFill/>
        </p:spPr>
        <p:txBody>
          <a:bodyPr wrap="square" rtlCol="0">
            <a:spAutoFit/>
          </a:bodyPr>
          <a:lstStyle/>
          <a:p>
            <a:pPr>
              <a:lnSpc>
                <a:spcPts val="2600"/>
              </a:lnSpc>
            </a:pPr>
            <a:r>
              <a:rPr lang="en-US" altLang="zh-CN" sz="2400" b="1" dirty="0">
                <a:solidFill>
                  <a:schemeClr val="accent2">
                    <a:lumMod val="75000"/>
                  </a:schemeClr>
                </a:solidFill>
              </a:rPr>
              <a:t>1. Minimal Prompt Template (</a:t>
            </a:r>
            <a:r>
              <a:rPr lang="en-US" altLang="zh-CN" sz="2400" b="1" dirty="0" err="1">
                <a:solidFill>
                  <a:schemeClr val="accent2">
                    <a:lumMod val="75000"/>
                  </a:schemeClr>
                </a:solidFill>
              </a:rPr>
              <a:t>prompts_multi</a:t>
            </a:r>
            <a:r>
              <a:rPr lang="en-US" altLang="zh-CN" sz="2400" b="1" dirty="0">
                <a:solidFill>
                  <a:schemeClr val="accent2">
                    <a:lumMod val="75000"/>
                  </a:schemeClr>
                </a:solidFill>
              </a:rPr>
              <a:t>)</a:t>
            </a:r>
          </a:p>
          <a:p>
            <a:pPr>
              <a:lnSpc>
                <a:spcPts val="2600"/>
              </a:lnSpc>
            </a:pPr>
            <a:r>
              <a:rPr lang="en-US" altLang="zh-CN" sz="2000" dirty="0">
                <a:solidFill>
                  <a:schemeClr val="accent2">
                    <a:lumMod val="75000"/>
                  </a:schemeClr>
                </a:solidFill>
              </a:rPr>
              <a:t>For pure multiple-choice questions, we strip the prompt down to only the essential instruction and answer options. By removing examples, extra context, and system messages, the model focuses exclusively on selecting the correct option index. This lean template reduces token overhead and steers the model toward outputting exactly one of the provided choices.</a:t>
            </a:r>
            <a:endParaRPr lang="en-US" altLang="zh-CN" sz="2400" dirty="0">
              <a:solidFill>
                <a:schemeClr val="accent2">
                  <a:lumMod val="75000"/>
                </a:schemeClr>
              </a:solidFill>
            </a:endParaRPr>
          </a:p>
          <a:p>
            <a:pPr>
              <a:lnSpc>
                <a:spcPts val="2600"/>
              </a:lnSpc>
            </a:pPr>
            <a:r>
              <a:rPr lang="en-US" altLang="zh-CN" sz="2400" b="1" dirty="0">
                <a:solidFill>
                  <a:schemeClr val="accent2">
                    <a:lumMod val="75000"/>
                  </a:schemeClr>
                </a:solidFill>
              </a:rPr>
              <a:t>2. Single-Token Output (</a:t>
            </a:r>
            <a:r>
              <a:rPr lang="en-US" altLang="zh-CN" sz="2400" b="1" dirty="0" err="1">
                <a:solidFill>
                  <a:schemeClr val="accent2">
                    <a:lumMod val="75000"/>
                  </a:schemeClr>
                </a:solidFill>
              </a:rPr>
              <a:t>max_new_tokens</a:t>
            </a:r>
            <a:r>
              <a:rPr lang="en-US" altLang="zh-CN" sz="2400" b="1" dirty="0">
                <a:solidFill>
                  <a:schemeClr val="accent2">
                    <a:lumMod val="75000"/>
                  </a:schemeClr>
                </a:solidFill>
              </a:rPr>
              <a:t> = 1)</a:t>
            </a:r>
          </a:p>
          <a:p>
            <a:pPr>
              <a:lnSpc>
                <a:spcPts val="2600"/>
              </a:lnSpc>
            </a:pPr>
            <a:r>
              <a:rPr lang="en-US" altLang="zh-CN" sz="2000" dirty="0">
                <a:solidFill>
                  <a:schemeClr val="accent2">
                    <a:lumMod val="75000"/>
                  </a:schemeClr>
                </a:solidFill>
              </a:rPr>
              <a:t>We constrain the model to generate at most one new token. Since each multiple-choice answer is represented by a single digit or letter, this setting guarantees that the model cannot produce any extraneous text. It both enforces format correctness (no extra words or punctuation) and minimizes inference latency by halting generation immediately after the choice token is emitted.</a:t>
            </a:r>
          </a:p>
        </p:txBody>
      </p:sp>
    </p:spTree>
    <p:extLst>
      <p:ext uri="{BB962C8B-B14F-4D97-AF65-F5344CB8AC3E}">
        <p14:creationId xmlns:p14="http://schemas.microsoft.com/office/powerpoint/2010/main" val="2047282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FB30-2657-6318-EE6C-00A5F1B4E62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932A20-E669-807D-DF3D-E00C40728F0F}"/>
              </a:ext>
            </a:extLst>
          </p:cNvPr>
          <p:cNvSpPr>
            <a:spLocks noGrp="1"/>
          </p:cNvSpPr>
          <p:nvPr>
            <p:ph type="title"/>
          </p:nvPr>
        </p:nvSpPr>
        <p:spPr/>
        <p:txBody>
          <a:bodyPr>
            <a:normAutofit fontScale="90000"/>
          </a:bodyPr>
          <a:lstStyle/>
          <a:p>
            <a:r>
              <a:rPr lang="en-US" altLang="zh-CN" dirty="0"/>
              <a:t>Advantages of Our Model</a:t>
            </a:r>
            <a:endParaRPr lang="zh-CN" altLang="en-US" dirty="0"/>
          </a:p>
        </p:txBody>
      </p:sp>
      <p:sp>
        <p:nvSpPr>
          <p:cNvPr id="8" name="文本框 7">
            <a:extLst>
              <a:ext uri="{FF2B5EF4-FFF2-40B4-BE49-F238E27FC236}">
                <a16:creationId xmlns:a16="http://schemas.microsoft.com/office/drawing/2014/main" id="{A2FE9D97-5401-04D0-CFEE-F824171FC017}"/>
              </a:ext>
            </a:extLst>
          </p:cNvPr>
          <p:cNvSpPr txBox="1"/>
          <p:nvPr/>
        </p:nvSpPr>
        <p:spPr>
          <a:xfrm>
            <a:off x="239350" y="1256173"/>
            <a:ext cx="11464970" cy="4585871"/>
          </a:xfrm>
          <a:prstGeom prst="rect">
            <a:avLst/>
          </a:prstGeom>
          <a:noFill/>
        </p:spPr>
        <p:txBody>
          <a:bodyPr wrap="square" rtlCol="0">
            <a:spAutoFit/>
          </a:bodyPr>
          <a:lstStyle/>
          <a:p>
            <a:r>
              <a:rPr lang="en-US" altLang="zh-CN" sz="2800" b="1" dirty="0">
                <a:solidFill>
                  <a:schemeClr val="accent2">
                    <a:lumMod val="75000"/>
                  </a:schemeClr>
                </a:solidFill>
              </a:rPr>
              <a:t>Prompt Engineering Overview</a:t>
            </a:r>
          </a:p>
          <a:p>
            <a:pPr marL="342900" indent="-342900">
              <a:buFont typeface="Arial" panose="020B0604020202020204" pitchFamily="34" charset="0"/>
              <a:buChar char="•"/>
            </a:pPr>
            <a:r>
              <a:rPr lang="en-US" altLang="zh-CN" sz="2400" dirty="0">
                <a:solidFill>
                  <a:schemeClr val="accent2">
                    <a:lumMod val="75000"/>
                  </a:schemeClr>
                </a:solidFill>
              </a:rPr>
              <a:t>Use a detailed exemplar-based template (</a:t>
            </a:r>
            <a:r>
              <a:rPr lang="en-US" altLang="zh-CN" sz="2400" dirty="0" err="1">
                <a:solidFill>
                  <a:schemeClr val="accent2">
                    <a:lumMod val="75000"/>
                  </a:schemeClr>
                </a:solidFill>
              </a:rPr>
              <a:t>exemplar_no_multi</a:t>
            </a:r>
            <a:r>
              <a:rPr lang="en-US" altLang="zh-CN" sz="2400" dirty="0">
                <a:solidFill>
                  <a:schemeClr val="accent2">
                    <a:lumMod val="75000"/>
                  </a:schemeClr>
                </a:solidFill>
              </a:rPr>
              <a:t>)  </a:t>
            </a:r>
          </a:p>
          <a:p>
            <a:pPr marL="342900" indent="-342900">
              <a:buFont typeface="Arial" panose="020B0604020202020204" pitchFamily="34" charset="0"/>
              <a:buChar char="•"/>
            </a:pPr>
            <a:r>
              <a:rPr lang="en-US" altLang="zh-CN" sz="2400" dirty="0">
                <a:solidFill>
                  <a:schemeClr val="accent2">
                    <a:lumMod val="75000"/>
                  </a:schemeClr>
                </a:solidFill>
              </a:rPr>
              <a:t>Model may generate up to 15 tokens (</a:t>
            </a:r>
            <a:r>
              <a:rPr lang="en-US" altLang="zh-CN" sz="2400" dirty="0" err="1">
                <a:solidFill>
                  <a:schemeClr val="accent2">
                    <a:lumMod val="75000"/>
                  </a:schemeClr>
                </a:solidFill>
              </a:rPr>
              <a:t>max_new_tokens</a:t>
            </a:r>
            <a:r>
              <a:rPr lang="en-US" altLang="zh-CN" sz="2400" dirty="0">
                <a:solidFill>
                  <a:schemeClr val="accent2">
                    <a:lumMod val="75000"/>
                  </a:schemeClr>
                </a:solidFill>
              </a:rPr>
              <a:t> = 15) </a:t>
            </a:r>
          </a:p>
          <a:p>
            <a:r>
              <a:rPr lang="en-US" altLang="zh-CN" sz="2400" dirty="0">
                <a:solidFill>
                  <a:schemeClr val="accent2">
                    <a:lumMod val="75000"/>
                  </a:schemeClr>
                </a:solidFill>
              </a:rPr>
              <a:t> </a:t>
            </a:r>
          </a:p>
          <a:p>
            <a:pPr marL="342900" indent="-342900">
              <a:buFont typeface="Arial" panose="020B0604020202020204" pitchFamily="34" charset="0"/>
              <a:buChar char="•"/>
            </a:pPr>
            <a:r>
              <a:rPr lang="en-US" altLang="zh-CN" sz="2400" dirty="0">
                <a:solidFill>
                  <a:schemeClr val="accent2">
                    <a:lumMod val="75000"/>
                  </a:schemeClr>
                </a:solidFill>
              </a:rPr>
              <a:t>The exemplar template includes </a:t>
            </a:r>
            <a:r>
              <a:rPr lang="en-US" altLang="zh-CN" sz="2400" b="1" dirty="0">
                <a:solidFill>
                  <a:schemeClr val="accent2">
                    <a:lumMod val="75000"/>
                  </a:schemeClr>
                </a:solidFill>
              </a:rPr>
              <a:t>six diverse examples</a:t>
            </a:r>
            <a:r>
              <a:rPr lang="en-US" altLang="zh-CN" sz="2400" dirty="0">
                <a:solidFill>
                  <a:schemeClr val="accent2">
                    <a:lumMod val="75000"/>
                  </a:schemeClr>
                </a:solidFill>
              </a:rPr>
              <a:t>:  </a:t>
            </a:r>
          </a:p>
          <a:p>
            <a:endParaRPr lang="en-US" altLang="zh-CN" sz="2400" dirty="0">
              <a:solidFill>
                <a:schemeClr val="accent2">
                  <a:lumMod val="75000"/>
                </a:schemeClr>
              </a:solidFill>
            </a:endParaRPr>
          </a:p>
          <a:p>
            <a:pPr marL="457200" indent="-457200">
              <a:buFont typeface="+mj-lt"/>
              <a:buAutoNum type="arabicPeriod"/>
            </a:pPr>
            <a:r>
              <a:rPr lang="en-US" altLang="zh-CN" sz="2400" b="1" dirty="0">
                <a:solidFill>
                  <a:schemeClr val="accent2">
                    <a:lumMod val="75000"/>
                  </a:schemeClr>
                </a:solidFill>
              </a:rPr>
              <a:t>Product Definition </a:t>
            </a:r>
            <a:r>
              <a:rPr lang="en-US" altLang="zh-CN" sz="2400" dirty="0">
                <a:solidFill>
                  <a:schemeClr val="accent2">
                    <a:lumMod val="75000"/>
                  </a:schemeClr>
                </a:solidFill>
              </a:rPr>
              <a:t>– Explain “Toggle Switch”  </a:t>
            </a:r>
          </a:p>
          <a:p>
            <a:pPr marL="457200" indent="-457200">
              <a:buFont typeface="+mj-lt"/>
              <a:buAutoNum type="arabicPeriod"/>
            </a:pPr>
            <a:r>
              <a:rPr lang="en-US" altLang="zh-CN" sz="2400" b="1" dirty="0">
                <a:solidFill>
                  <a:schemeClr val="accent2">
                    <a:lumMod val="75000"/>
                  </a:schemeClr>
                </a:solidFill>
              </a:rPr>
              <a:t>Sentiment Choice </a:t>
            </a:r>
            <a:r>
              <a:rPr lang="en-US" altLang="zh-CN" sz="2400" dirty="0">
                <a:solidFill>
                  <a:schemeClr val="accent2">
                    <a:lumMod val="75000"/>
                  </a:schemeClr>
                </a:solidFill>
              </a:rPr>
              <a:t>– Positive/Negative for a Timer product </a:t>
            </a:r>
          </a:p>
          <a:p>
            <a:pPr marL="457200" indent="-457200">
              <a:buFont typeface="+mj-lt"/>
              <a:buAutoNum type="arabicPeriod"/>
            </a:pPr>
            <a:r>
              <a:rPr lang="en-US" altLang="zh-CN" sz="2400" b="1" dirty="0">
                <a:solidFill>
                  <a:schemeClr val="accent2">
                    <a:lumMod val="75000"/>
                  </a:schemeClr>
                </a:solidFill>
              </a:rPr>
              <a:t>Entity Extraction </a:t>
            </a:r>
            <a:r>
              <a:rPr lang="en-US" altLang="zh-CN" sz="2400" dirty="0">
                <a:solidFill>
                  <a:schemeClr val="accent2">
                    <a:lumMod val="75000"/>
                  </a:schemeClr>
                </a:solidFill>
              </a:rPr>
              <a:t>– Identify “product type”  </a:t>
            </a:r>
          </a:p>
          <a:p>
            <a:pPr marL="457200" indent="-457200">
              <a:buFont typeface="+mj-lt"/>
              <a:buAutoNum type="arabicPeriod"/>
            </a:pPr>
            <a:r>
              <a:rPr lang="en-US" altLang="zh-CN" sz="2400" b="1" dirty="0">
                <a:solidFill>
                  <a:schemeClr val="accent2">
                    <a:lumMod val="75000"/>
                  </a:schemeClr>
                </a:solidFill>
              </a:rPr>
              <a:t>Key-Phrase Extraction </a:t>
            </a:r>
            <a:r>
              <a:rPr lang="en-US" altLang="zh-CN" sz="2400" dirty="0">
                <a:solidFill>
                  <a:schemeClr val="accent2">
                    <a:lumMod val="75000"/>
                  </a:schemeClr>
                </a:solidFill>
              </a:rPr>
              <a:t>– Pull color attributes  </a:t>
            </a:r>
          </a:p>
          <a:p>
            <a:pPr marL="457200" indent="-457200">
              <a:buFont typeface="+mj-lt"/>
              <a:buAutoNum type="arabicPeriod"/>
            </a:pPr>
            <a:r>
              <a:rPr lang="en-US" altLang="zh-CN" sz="2400" b="1" dirty="0">
                <a:solidFill>
                  <a:schemeClr val="accent2">
                    <a:lumMod val="75000"/>
                  </a:schemeClr>
                </a:solidFill>
              </a:rPr>
              <a:t>Title Generation </a:t>
            </a:r>
            <a:r>
              <a:rPr lang="en-US" altLang="zh-CN" sz="2400" dirty="0">
                <a:solidFill>
                  <a:schemeClr val="accent2">
                    <a:lumMod val="75000"/>
                  </a:schemeClr>
                </a:solidFill>
              </a:rPr>
              <a:t>– Create German product titles  </a:t>
            </a:r>
          </a:p>
          <a:p>
            <a:pPr marL="457200" indent="-457200">
              <a:buFont typeface="+mj-lt"/>
              <a:buAutoNum type="arabicPeriod"/>
            </a:pPr>
            <a:r>
              <a:rPr lang="en-US" altLang="zh-CN" sz="2400" b="1" dirty="0">
                <a:solidFill>
                  <a:schemeClr val="accent2">
                    <a:lumMod val="75000"/>
                  </a:schemeClr>
                </a:solidFill>
              </a:rPr>
              <a:t>Material Extraction </a:t>
            </a:r>
            <a:r>
              <a:rPr lang="en-US" altLang="zh-CN" sz="2400" dirty="0">
                <a:solidFill>
                  <a:schemeClr val="accent2">
                    <a:lumMod val="75000"/>
                  </a:schemeClr>
                </a:solidFill>
              </a:rPr>
              <a:t>– List components of vinyl wrap</a:t>
            </a:r>
            <a:endParaRPr lang="en-US" altLang="zh-CN" sz="2800" dirty="0">
              <a:solidFill>
                <a:schemeClr val="accent2">
                  <a:lumMod val="75000"/>
                </a:schemeClr>
              </a:solidFill>
            </a:endParaRPr>
          </a:p>
        </p:txBody>
      </p:sp>
    </p:spTree>
    <p:extLst>
      <p:ext uri="{BB962C8B-B14F-4D97-AF65-F5344CB8AC3E}">
        <p14:creationId xmlns:p14="http://schemas.microsoft.com/office/powerpoint/2010/main" val="1963570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4F700-5A6A-D6B2-8CE8-05B78EDE14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EC5233E-F696-6CBB-B78D-096B00AF4E04}"/>
              </a:ext>
            </a:extLst>
          </p:cNvPr>
          <p:cNvSpPr>
            <a:spLocks noGrp="1"/>
          </p:cNvSpPr>
          <p:nvPr>
            <p:ph type="title"/>
          </p:nvPr>
        </p:nvSpPr>
        <p:spPr/>
        <p:txBody>
          <a:bodyPr>
            <a:normAutofit fontScale="90000"/>
          </a:bodyPr>
          <a:lstStyle/>
          <a:p>
            <a:r>
              <a:rPr lang="en-US" altLang="zh-CN" dirty="0"/>
              <a:t>Advantages of Our Model</a:t>
            </a:r>
            <a:endParaRPr lang="zh-CN" altLang="en-US" dirty="0"/>
          </a:p>
        </p:txBody>
      </p:sp>
      <p:sp>
        <p:nvSpPr>
          <p:cNvPr id="8" name="文本框 7">
            <a:extLst>
              <a:ext uri="{FF2B5EF4-FFF2-40B4-BE49-F238E27FC236}">
                <a16:creationId xmlns:a16="http://schemas.microsoft.com/office/drawing/2014/main" id="{4EDDD2C8-15F4-A20A-20B4-EBC63862DDDA}"/>
              </a:ext>
            </a:extLst>
          </p:cNvPr>
          <p:cNvSpPr txBox="1"/>
          <p:nvPr/>
        </p:nvSpPr>
        <p:spPr>
          <a:xfrm>
            <a:off x="239350" y="1093613"/>
            <a:ext cx="11668170" cy="5570756"/>
          </a:xfrm>
          <a:prstGeom prst="rect">
            <a:avLst/>
          </a:prstGeom>
          <a:noFill/>
        </p:spPr>
        <p:txBody>
          <a:bodyPr wrap="square" rtlCol="0">
            <a:spAutoFit/>
          </a:bodyPr>
          <a:lstStyle/>
          <a:p>
            <a:r>
              <a:rPr lang="en-US" altLang="zh-CN" sz="2400" b="1" dirty="0">
                <a:solidFill>
                  <a:schemeClr val="accent2">
                    <a:lumMod val="75000"/>
                  </a:schemeClr>
                </a:solidFill>
              </a:rPr>
              <a:t>1. Token-Efficient Strategy </a:t>
            </a:r>
          </a:p>
          <a:p>
            <a:r>
              <a:rPr lang="en-US" altLang="zh-CN" sz="2400" b="1" dirty="0">
                <a:solidFill>
                  <a:schemeClr val="accent2">
                    <a:lumMod val="75000"/>
                  </a:schemeClr>
                </a:solidFill>
              </a:rPr>
              <a:t>2. Rich Context for Open-Ended Tasks</a:t>
            </a:r>
            <a:r>
              <a:rPr lang="zh-CN" altLang="en-US" sz="2400" b="1" dirty="0">
                <a:solidFill>
                  <a:schemeClr val="accent2">
                    <a:lumMod val="75000"/>
                  </a:schemeClr>
                </a:solidFill>
              </a:rPr>
              <a:t>：</a:t>
            </a:r>
            <a:endParaRPr lang="en-US" altLang="zh-CN" sz="2400" b="1" dirty="0">
              <a:solidFill>
                <a:schemeClr val="accent2">
                  <a:lumMod val="75000"/>
                </a:schemeClr>
              </a:solidFill>
            </a:endParaRPr>
          </a:p>
          <a:p>
            <a:pPr marL="342900" indent="-342900">
              <a:buFont typeface="Arial" panose="020B0604020202020204" pitchFamily="34" charset="0"/>
              <a:buChar char="•"/>
            </a:pPr>
            <a:r>
              <a:rPr lang="en-US" altLang="zh-CN" sz="2000" b="1" dirty="0">
                <a:solidFill>
                  <a:schemeClr val="accent2">
                    <a:lumMod val="75000"/>
                  </a:schemeClr>
                </a:solidFill>
              </a:rPr>
              <a:t>What we kept: </a:t>
            </a:r>
            <a:r>
              <a:rPr lang="en-US" altLang="zh-CN" sz="2000" dirty="0">
                <a:solidFill>
                  <a:schemeClr val="accent2">
                    <a:lumMod val="75000"/>
                  </a:schemeClr>
                </a:solidFill>
              </a:rPr>
              <a:t>A bank of six hand-picked exemplars for non-MC tasks. </a:t>
            </a:r>
          </a:p>
          <a:p>
            <a:pPr marL="342900" indent="-342900">
              <a:buFont typeface="Arial" panose="020B0604020202020204" pitchFamily="34" charset="0"/>
              <a:buChar char="•"/>
            </a:pPr>
            <a:r>
              <a:rPr lang="en-US" altLang="zh-CN" sz="2000" b="1" dirty="0">
                <a:solidFill>
                  <a:schemeClr val="accent2">
                    <a:lumMod val="75000"/>
                  </a:schemeClr>
                </a:solidFill>
              </a:rPr>
              <a:t>Why it works: </a:t>
            </a:r>
            <a:r>
              <a:rPr lang="en-US" altLang="zh-CN" sz="2000" dirty="0">
                <a:solidFill>
                  <a:schemeClr val="accent2">
                    <a:lumMod val="75000"/>
                  </a:schemeClr>
                </a:solidFill>
              </a:rPr>
              <a:t>Open-ended tasks need nuance—examples show the model the  “shape” of a good  response,      from defining a toggle switch to extracting vinyl wrap materials. These six varied samples cover the full spectrum   of our use cases, priming the model to fill in new prompts with the right style and detail. </a:t>
            </a:r>
          </a:p>
          <a:p>
            <a:r>
              <a:rPr lang="en-US" altLang="zh-CN" sz="2400" b="1" dirty="0">
                <a:solidFill>
                  <a:schemeClr val="accent2">
                    <a:lumMod val="75000"/>
                  </a:schemeClr>
                </a:solidFill>
              </a:rPr>
              <a:t>3. Reduced Cognitive Overhead</a:t>
            </a:r>
          </a:p>
          <a:p>
            <a:pPr marL="342900" indent="-342900">
              <a:buFont typeface="Arial" panose="020B0604020202020204" pitchFamily="34" charset="0"/>
              <a:buChar char="•"/>
            </a:pPr>
            <a:r>
              <a:rPr lang="en-US" altLang="zh-CN" sz="2000" dirty="0">
                <a:solidFill>
                  <a:schemeClr val="accent2">
                    <a:lumMod val="75000"/>
                  </a:schemeClr>
                </a:solidFill>
              </a:rPr>
              <a:t>By stripping down the MCQ template, we cut prompt length by 60–70%. That reduction doesn’t just  save tokens—it prevents context-window saturation and keeps the model’s “attention” squarely on the task at hand.</a:t>
            </a:r>
          </a:p>
          <a:p>
            <a:r>
              <a:rPr lang="en-US" altLang="zh-CN" sz="2400" b="1" dirty="0">
                <a:solidFill>
                  <a:schemeClr val="accent2">
                    <a:lumMod val="75000"/>
                  </a:schemeClr>
                </a:solidFill>
              </a:rPr>
              <a:t>4. Lean &amp; Mean Architecture</a:t>
            </a:r>
          </a:p>
          <a:p>
            <a:pPr marL="342900" indent="-342900">
              <a:buFont typeface="Arial" panose="020B0604020202020204" pitchFamily="34" charset="0"/>
              <a:buChar char="•"/>
            </a:pPr>
            <a:r>
              <a:rPr lang="en-US" altLang="zh-CN" sz="2000" dirty="0">
                <a:solidFill>
                  <a:schemeClr val="accent2">
                    <a:lumMod val="75000"/>
                  </a:schemeClr>
                </a:solidFill>
              </a:rPr>
              <a:t>Fewer prompt branches means less maintenance, fewer edge-case bugs, and a single streamlined code path. We’ve essentially given the model a personality: “For quick picks, be ruthless and exact. 	For deeper answers, show me you’ve learned from examples.”</a:t>
            </a:r>
          </a:p>
          <a:p>
            <a:endParaRPr lang="en-US" altLang="zh-CN" sz="2000" dirty="0">
              <a:solidFill>
                <a:schemeClr val="accent2">
                  <a:lumMod val="75000"/>
                </a:schemeClr>
              </a:solidFill>
            </a:endParaRPr>
          </a:p>
          <a:p>
            <a:r>
              <a:rPr lang="en-US" altLang="zh-CN" sz="2000" dirty="0">
                <a:solidFill>
                  <a:schemeClr val="accent2">
                    <a:lumMod val="75000"/>
                  </a:schemeClr>
                </a:solidFill>
              </a:rPr>
              <a:t>The result? </a:t>
            </a:r>
            <a:r>
              <a:rPr lang="en-US" altLang="zh-CN" sz="2000" b="1" dirty="0">
                <a:solidFill>
                  <a:schemeClr val="accent2">
                    <a:lumMod val="75000"/>
                  </a:schemeClr>
                </a:solidFill>
              </a:rPr>
              <a:t>Faster</a:t>
            </a:r>
            <a:r>
              <a:rPr lang="en-US" altLang="zh-CN" sz="2000" dirty="0">
                <a:solidFill>
                  <a:schemeClr val="accent2">
                    <a:lumMod val="75000"/>
                  </a:schemeClr>
                </a:solidFill>
              </a:rPr>
              <a:t>, </a:t>
            </a:r>
            <a:r>
              <a:rPr lang="en-US" altLang="zh-CN" sz="2000" b="1" dirty="0">
                <a:solidFill>
                  <a:schemeClr val="accent2">
                    <a:lumMod val="75000"/>
                  </a:schemeClr>
                </a:solidFill>
              </a:rPr>
              <a:t>more accurate multiple-choice</a:t>
            </a:r>
            <a:r>
              <a:rPr lang="en-US" altLang="zh-CN" sz="2000" dirty="0">
                <a:solidFill>
                  <a:schemeClr val="accent2">
                    <a:lumMod val="75000"/>
                  </a:schemeClr>
                </a:solidFill>
              </a:rPr>
              <a:t>, and </a:t>
            </a:r>
            <a:r>
              <a:rPr lang="en-US" altLang="zh-CN" sz="2000" b="1" dirty="0">
                <a:solidFill>
                  <a:schemeClr val="accent2">
                    <a:lumMod val="75000"/>
                  </a:schemeClr>
                </a:solidFill>
              </a:rPr>
              <a:t>richer</a:t>
            </a:r>
            <a:r>
              <a:rPr lang="en-US" altLang="zh-CN" sz="2000" dirty="0">
                <a:solidFill>
                  <a:schemeClr val="accent2">
                    <a:lumMod val="75000"/>
                  </a:schemeClr>
                </a:solidFill>
              </a:rPr>
              <a:t>, </a:t>
            </a:r>
            <a:r>
              <a:rPr lang="en-US" altLang="zh-CN" sz="2000" b="1" dirty="0">
                <a:solidFill>
                  <a:schemeClr val="accent2">
                    <a:lumMod val="75000"/>
                  </a:schemeClr>
                </a:solidFill>
              </a:rPr>
              <a:t>exemplar-grounded free-form responses</a:t>
            </a:r>
            <a:r>
              <a:rPr lang="en-US" altLang="zh-CN" sz="2000" dirty="0">
                <a:solidFill>
                  <a:schemeClr val="accent2">
                    <a:lumMod val="75000"/>
                  </a:schemeClr>
                </a:solidFill>
              </a:rPr>
              <a:t>—all with a </a:t>
            </a:r>
            <a:r>
              <a:rPr lang="en-US" altLang="zh-CN" sz="2000" b="1" dirty="0">
                <a:solidFill>
                  <a:schemeClr val="accent2">
                    <a:lumMod val="75000"/>
                  </a:schemeClr>
                </a:solidFill>
              </a:rPr>
              <a:t>lighter, more maintainable codebase</a:t>
            </a:r>
            <a:r>
              <a:rPr lang="en-US" altLang="zh-CN" sz="2000" dirty="0">
                <a:solidFill>
                  <a:schemeClr val="accent2">
                    <a:lumMod val="75000"/>
                  </a:schemeClr>
                </a:solidFill>
              </a:rPr>
              <a:t>.</a:t>
            </a:r>
          </a:p>
        </p:txBody>
      </p:sp>
    </p:spTree>
    <p:extLst>
      <p:ext uri="{BB962C8B-B14F-4D97-AF65-F5344CB8AC3E}">
        <p14:creationId xmlns:p14="http://schemas.microsoft.com/office/powerpoint/2010/main" val="1416103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C48B2-4F47-E320-A4F2-DEE55BE6795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A0481F4-B53F-99F9-6478-A79586EA77BA}"/>
              </a:ext>
            </a:extLst>
          </p:cNvPr>
          <p:cNvSpPr>
            <a:spLocks noGrp="1"/>
          </p:cNvSpPr>
          <p:nvPr>
            <p:ph type="title"/>
          </p:nvPr>
        </p:nvSpPr>
        <p:spPr>
          <a:xfrm>
            <a:off x="239350" y="404664"/>
            <a:ext cx="8528730" cy="576064"/>
          </a:xfrm>
        </p:spPr>
        <p:txBody>
          <a:bodyPr>
            <a:normAutofit fontScale="90000"/>
          </a:bodyPr>
          <a:lstStyle/>
          <a:p>
            <a:r>
              <a:rPr lang="en-US" altLang="zh-CN" dirty="0"/>
              <a:t> Evaluation Results</a:t>
            </a:r>
            <a:endParaRPr lang="zh-CN" altLang="en-US" dirty="0"/>
          </a:p>
        </p:txBody>
      </p:sp>
      <p:sp>
        <p:nvSpPr>
          <p:cNvPr id="3" name="内容占位符 2">
            <a:extLst>
              <a:ext uri="{FF2B5EF4-FFF2-40B4-BE49-F238E27FC236}">
                <a16:creationId xmlns:a16="http://schemas.microsoft.com/office/drawing/2014/main" id="{A7262ACB-9C18-B719-5F13-FB997F166F75}"/>
              </a:ext>
            </a:extLst>
          </p:cNvPr>
          <p:cNvSpPr>
            <a:spLocks noGrp="1"/>
          </p:cNvSpPr>
          <p:nvPr>
            <p:ph idx="1"/>
          </p:nvPr>
        </p:nvSpPr>
        <p:spPr>
          <a:xfrm>
            <a:off x="239349" y="980728"/>
            <a:ext cx="11434491" cy="809129"/>
          </a:xfrm>
        </p:spPr>
        <p:txBody>
          <a:bodyPr>
            <a:noAutofit/>
          </a:bodyPr>
          <a:lstStyle/>
          <a:p>
            <a:pPr algn="l"/>
            <a:r>
              <a:rPr lang="en-US" altLang="zh-CN" sz="2400" b="1" dirty="0"/>
              <a:t>1. Overview of Tasks  </a:t>
            </a:r>
          </a:p>
          <a:p>
            <a:pPr algn="l"/>
            <a:r>
              <a:rPr lang="en-US" altLang="zh-CN" sz="2000" dirty="0"/>
              <a:t>The evaluation covers 18 distinct tasks, including text generation, multiple-choice QA, retrieval/reranking, named entity recognition (NER), and ranking.</a:t>
            </a:r>
          </a:p>
          <a:p>
            <a:pPr algn="l"/>
            <a:endParaRPr lang="en-US" altLang="zh-CN" sz="2000" dirty="0"/>
          </a:p>
          <a:p>
            <a:pPr algn="l"/>
            <a:endParaRPr lang="en-US" altLang="zh-CN" sz="2000" dirty="0"/>
          </a:p>
          <a:p>
            <a:pPr algn="l"/>
            <a:endParaRPr lang="en-US" altLang="zh-CN" sz="2000" dirty="0"/>
          </a:p>
        </p:txBody>
      </p:sp>
      <p:pic>
        <p:nvPicPr>
          <p:cNvPr id="5" name="图片 4">
            <a:extLst>
              <a:ext uri="{FF2B5EF4-FFF2-40B4-BE49-F238E27FC236}">
                <a16:creationId xmlns:a16="http://schemas.microsoft.com/office/drawing/2014/main" id="{6D6DD289-C9B2-53F3-6999-E4C10BC87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8675" y="2540871"/>
            <a:ext cx="5911086" cy="3336401"/>
          </a:xfrm>
          <a:prstGeom prst="rect">
            <a:avLst/>
          </a:prstGeom>
        </p:spPr>
      </p:pic>
      <p:sp>
        <p:nvSpPr>
          <p:cNvPr id="8" name="文本框 7">
            <a:extLst>
              <a:ext uri="{FF2B5EF4-FFF2-40B4-BE49-F238E27FC236}">
                <a16:creationId xmlns:a16="http://schemas.microsoft.com/office/drawing/2014/main" id="{24C8CC83-28C7-80B7-3354-F6D3328EE2E7}"/>
              </a:ext>
            </a:extLst>
          </p:cNvPr>
          <p:cNvSpPr txBox="1"/>
          <p:nvPr/>
        </p:nvSpPr>
        <p:spPr>
          <a:xfrm>
            <a:off x="239349" y="2104172"/>
            <a:ext cx="5799326" cy="4154984"/>
          </a:xfrm>
          <a:prstGeom prst="rect">
            <a:avLst/>
          </a:prstGeom>
          <a:noFill/>
        </p:spPr>
        <p:txBody>
          <a:bodyPr wrap="square" rtlCol="0">
            <a:spAutoFit/>
          </a:bodyPr>
          <a:lstStyle/>
          <a:p>
            <a:r>
              <a:rPr lang="en-US" altLang="zh-CN" sz="2400" b="1" dirty="0">
                <a:solidFill>
                  <a:schemeClr val="accent2">
                    <a:lumMod val="75000"/>
                  </a:schemeClr>
                </a:solidFill>
              </a:rPr>
              <a:t>2. Key Performance Highlights  </a:t>
            </a:r>
            <a:endParaRPr lang="en-US" altLang="zh-CN" sz="2000" b="1" dirty="0">
              <a:solidFill>
                <a:schemeClr val="accent2">
                  <a:lumMod val="75000"/>
                </a:schemeClr>
              </a:solidFill>
            </a:endParaRPr>
          </a:p>
          <a:p>
            <a:pPr marL="342900" indent="-342900">
              <a:buFont typeface="Arial" panose="020B0604020202020204" pitchFamily="34" charset="0"/>
              <a:buChar char="•"/>
            </a:pPr>
            <a:r>
              <a:rPr lang="en-US" altLang="zh-CN" sz="2000" b="1" dirty="0">
                <a:solidFill>
                  <a:schemeClr val="accent2">
                    <a:lumMod val="75000"/>
                  </a:schemeClr>
                </a:solidFill>
              </a:rPr>
              <a:t>Perfect scores:  </a:t>
            </a:r>
            <a:r>
              <a:rPr lang="en-US" altLang="zh-CN" sz="2000" dirty="0">
                <a:solidFill>
                  <a:schemeClr val="accent2">
                    <a:lumMod val="75000"/>
                  </a:schemeClr>
                </a:solidFill>
              </a:rPr>
              <a:t>NER (task4) achieves a perfect micro-F1 of 1.000. Several multiple-choice tasks (tasks 9, 10, and 11) also reach 1.000 accuracy. </a:t>
            </a:r>
          </a:p>
          <a:p>
            <a:pPr marL="342900" indent="-342900">
              <a:buFont typeface="Arial" panose="020B0604020202020204" pitchFamily="34" charset="0"/>
              <a:buChar char="•"/>
            </a:pPr>
            <a:r>
              <a:rPr lang="en-US" altLang="zh-CN" sz="2000" b="1" dirty="0">
                <a:solidFill>
                  <a:schemeClr val="accent2">
                    <a:lumMod val="75000"/>
                  </a:schemeClr>
                </a:solidFill>
              </a:rPr>
              <a:t>Strong retrieval: </a:t>
            </a:r>
            <a:r>
              <a:rPr lang="en-US" altLang="zh-CN" sz="2000" dirty="0">
                <a:solidFill>
                  <a:schemeClr val="accent2">
                    <a:lumMod val="75000"/>
                  </a:schemeClr>
                </a:solidFill>
              </a:rPr>
              <a:t>Tasks 6, 7, and 8 all exceed 0.90 in hit-rate@3, indicating reliable top-3 retrieval.</a:t>
            </a:r>
          </a:p>
          <a:p>
            <a:pPr marL="342900" indent="-342900">
              <a:buFont typeface="Arial" panose="020B0604020202020204" pitchFamily="34" charset="0"/>
              <a:buChar char="•"/>
            </a:pPr>
            <a:r>
              <a:rPr lang="en-US" altLang="zh-CN" sz="2000" b="1" dirty="0">
                <a:solidFill>
                  <a:schemeClr val="accent2">
                    <a:lumMod val="75000"/>
                  </a:schemeClr>
                </a:solidFill>
              </a:rPr>
              <a:t>Weaker generation: </a:t>
            </a:r>
            <a:r>
              <a:rPr lang="en-US" altLang="zh-CN" sz="2000" dirty="0">
                <a:solidFill>
                  <a:schemeClr val="accent2">
                    <a:lumMod val="75000"/>
                  </a:schemeClr>
                </a:solidFill>
              </a:rPr>
              <a:t>Task 16 (a generation task) has a BLEU score of only 0.0387, showing room for improvement in that specific setting. Overall Score  The aggregate score across all tasks is approximately 0.642, indicating solid performance overall but with clear opportunities to boost low-scoring generation and some retrieval tasks. </a:t>
            </a:r>
            <a:endParaRPr lang="zh-CN" altLang="en-US" sz="2000" dirty="0">
              <a:solidFill>
                <a:schemeClr val="accent2">
                  <a:lumMod val="75000"/>
                </a:schemeClr>
              </a:solidFill>
            </a:endParaRPr>
          </a:p>
        </p:txBody>
      </p:sp>
    </p:spTree>
    <p:extLst>
      <p:ext uri="{BB962C8B-B14F-4D97-AF65-F5344CB8AC3E}">
        <p14:creationId xmlns:p14="http://schemas.microsoft.com/office/powerpoint/2010/main" val="315411040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1586</TotalTime>
  <Words>2412</Words>
  <Application>Microsoft Office PowerPoint</Application>
  <PresentationFormat>宽屏</PresentationFormat>
  <Paragraphs>226</Paragraphs>
  <Slides>19</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19</vt:i4>
      </vt:variant>
    </vt:vector>
  </HeadingPairs>
  <TitlesOfParts>
    <vt:vector size="24" baseType="lpstr">
      <vt:lpstr>inter-ui</vt:lpstr>
      <vt:lpstr>等线</vt:lpstr>
      <vt:lpstr>Arial</vt:lpstr>
      <vt:lpstr>Calibri</vt:lpstr>
      <vt:lpstr>Тема Office</vt:lpstr>
      <vt:lpstr>Online Shopping Challenge for LLMs</vt:lpstr>
      <vt:lpstr>Tasks</vt:lpstr>
      <vt:lpstr>Leaderboard Solutions</vt:lpstr>
      <vt:lpstr>Dataset Description(Amazon)</vt:lpstr>
      <vt:lpstr>Comprehensive RAG Benchmark</vt:lpstr>
      <vt:lpstr>Dataset Description(Meta)</vt:lpstr>
      <vt:lpstr>Leaderboard</vt:lpstr>
      <vt:lpstr>Conclusion</vt:lpstr>
      <vt:lpstr>Benchmark</vt:lpstr>
      <vt:lpstr>Benchmark: Evaluation Metric </vt:lpstr>
      <vt:lpstr>How to Determine Success</vt:lpstr>
      <vt:lpstr>Leaderboard Solution</vt:lpstr>
      <vt:lpstr>Prompt Design: Instruction Design</vt:lpstr>
      <vt:lpstr>Prompt Design :Exemplar Selection</vt:lpstr>
      <vt:lpstr>PowerPoint 演示文稿</vt:lpstr>
      <vt:lpstr>Advantages of Our Model</vt:lpstr>
      <vt:lpstr>Advantages of Our Model</vt:lpstr>
      <vt:lpstr>Advantages of Our Model</vt:lpstr>
      <vt:lpstr> Evaluation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贤伦 柯</dc:creator>
  <cp:lastModifiedBy>祥 张</cp:lastModifiedBy>
  <cp:revision>55</cp:revision>
  <dcterms:created xsi:type="dcterms:W3CDTF">2025-02-17T13:34:33Z</dcterms:created>
  <dcterms:modified xsi:type="dcterms:W3CDTF">2025-04-30T09:27:33Z</dcterms:modified>
</cp:coreProperties>
</file>